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5C629-349A-4DB6-8CBD-C63594A169D9}" type="datetimeFigureOut">
              <a:rPr lang="en-US" smtClean="0"/>
              <a:t>6/15/2017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EC4FD-B49F-44DF-823F-299EAB9B64B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5C629-349A-4DB6-8CBD-C63594A169D9}" type="datetimeFigureOut">
              <a:rPr lang="en-US" smtClean="0"/>
              <a:t>6/15/2017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EC4FD-B49F-44DF-823F-299EAB9B64B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5C629-349A-4DB6-8CBD-C63594A169D9}" type="datetimeFigureOut">
              <a:rPr lang="en-US" smtClean="0"/>
              <a:t>6/15/2017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EC4FD-B49F-44DF-823F-299EAB9B64B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5C629-349A-4DB6-8CBD-C63594A169D9}" type="datetimeFigureOut">
              <a:rPr lang="en-US" smtClean="0"/>
              <a:t>6/15/2017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EC4FD-B49F-44DF-823F-299EAB9B64B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5C629-349A-4DB6-8CBD-C63594A169D9}" type="datetimeFigureOut">
              <a:rPr lang="en-US" smtClean="0"/>
              <a:t>6/15/2017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EC4FD-B49F-44DF-823F-299EAB9B64B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5C629-349A-4DB6-8CBD-C63594A169D9}" type="datetimeFigureOut">
              <a:rPr lang="en-US" smtClean="0"/>
              <a:t>6/15/2017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EC4FD-B49F-44DF-823F-299EAB9B64B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5C629-349A-4DB6-8CBD-C63594A169D9}" type="datetimeFigureOut">
              <a:rPr lang="en-US" smtClean="0"/>
              <a:t>6/15/2017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EC4FD-B49F-44DF-823F-299EAB9B64B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5C629-349A-4DB6-8CBD-C63594A169D9}" type="datetimeFigureOut">
              <a:rPr lang="en-US" smtClean="0"/>
              <a:t>6/15/2017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EC4FD-B49F-44DF-823F-299EAB9B64B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5C629-349A-4DB6-8CBD-C63594A169D9}" type="datetimeFigureOut">
              <a:rPr lang="en-US" smtClean="0"/>
              <a:t>6/15/2017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EC4FD-B49F-44DF-823F-299EAB9B64B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5C629-349A-4DB6-8CBD-C63594A169D9}" type="datetimeFigureOut">
              <a:rPr lang="en-US" smtClean="0"/>
              <a:t>6/15/2017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EC4FD-B49F-44DF-823F-299EAB9B64B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5C629-349A-4DB6-8CBD-C63594A169D9}" type="datetimeFigureOut">
              <a:rPr lang="en-US" smtClean="0"/>
              <a:t>6/15/2017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EC4FD-B49F-44DF-823F-299EAB9B64B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75C629-349A-4DB6-8CBD-C63594A169D9}" type="datetimeFigureOut">
              <a:rPr lang="en-US" smtClean="0"/>
              <a:t>6/15/2017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BEC4FD-B49F-44DF-823F-299EAB9B64B5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e-NP" dirty="0" smtClean="0">
                <a:cs typeface="Kalimati" pitchFamily="2"/>
              </a:rPr>
              <a:t>जग्गाको रजिष्ट्रेशन</a:t>
            </a:r>
            <a:r>
              <a:rPr lang="en-US" dirty="0" smtClean="0">
                <a:cs typeface="Kalimati" pitchFamily="2"/>
              </a:rPr>
              <a:t>,</a:t>
            </a:r>
            <a:r>
              <a:rPr lang="ne-NP" dirty="0" smtClean="0">
                <a:cs typeface="Kalimati" pitchFamily="2"/>
              </a:rPr>
              <a:t> मोहियानी र हदबन्दी</a:t>
            </a:r>
            <a:endParaRPr lang="en-US" dirty="0">
              <a:cs typeface="Kalimati" pitchFamily="2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4495800"/>
            <a:ext cx="8382000" cy="1143000"/>
          </a:xfrm>
        </p:spPr>
        <p:txBody>
          <a:bodyPr>
            <a:normAutofit fontScale="92500" lnSpcReduction="10000"/>
          </a:bodyPr>
          <a:lstStyle/>
          <a:p>
            <a:r>
              <a:rPr lang="ne-NP" sz="2400" dirty="0" smtClean="0"/>
              <a:t>सम्मरबहादुर सिंह ठकुरी</a:t>
            </a:r>
          </a:p>
          <a:p>
            <a:r>
              <a:rPr lang="ne-NP" sz="2400" dirty="0" smtClean="0"/>
              <a:t>निर्देशक</a:t>
            </a:r>
          </a:p>
          <a:p>
            <a:r>
              <a:rPr lang="ne-NP" sz="2400" dirty="0" smtClean="0"/>
              <a:t>भूमिसुधार तथा व्यवस्थापन विभाग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e-NP" dirty="0" smtClean="0"/>
              <a:t>जग्गाको ३ विशेषता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e-NP" dirty="0" smtClean="0">
                <a:cs typeface="Kalimati" pitchFamily="2"/>
              </a:rPr>
              <a:t>–</a:t>
            </a:r>
            <a:r>
              <a:rPr lang="ne-NP" dirty="0">
                <a:cs typeface="Kalimati" pitchFamily="2"/>
              </a:rPr>
              <a:t>अचल </a:t>
            </a:r>
            <a:endParaRPr lang="en-US" dirty="0" smtClean="0">
              <a:cs typeface="Kalimati" pitchFamily="2"/>
            </a:endParaRPr>
          </a:p>
          <a:p>
            <a:r>
              <a:rPr lang="ne-NP" dirty="0" smtClean="0">
                <a:cs typeface="Kalimati" pitchFamily="2"/>
              </a:rPr>
              <a:t>अविनासी </a:t>
            </a:r>
            <a:r>
              <a:rPr lang="ne-NP" dirty="0">
                <a:cs typeface="Kalimati" pitchFamily="2"/>
              </a:rPr>
              <a:t>र </a:t>
            </a:r>
            <a:endParaRPr lang="en-US" dirty="0" smtClean="0">
              <a:cs typeface="Kalimati" pitchFamily="2"/>
            </a:endParaRPr>
          </a:p>
          <a:p>
            <a:r>
              <a:rPr lang="ne-NP" dirty="0" smtClean="0">
                <a:cs typeface="Kalimati" pitchFamily="2"/>
              </a:rPr>
              <a:t>क्षेत्रफल </a:t>
            </a:r>
            <a:r>
              <a:rPr lang="ne-NP" dirty="0">
                <a:cs typeface="Kalimati" pitchFamily="2"/>
              </a:rPr>
              <a:t>निश्चित</a:t>
            </a:r>
            <a:endParaRPr lang="en-US" dirty="0">
              <a:cs typeface="Kalimati" pitchFamily="2"/>
            </a:endParaRPr>
          </a:p>
          <a:p>
            <a:r>
              <a:rPr lang="ne-NP" dirty="0">
                <a:cs typeface="Kalimati" pitchFamily="2"/>
              </a:rPr>
              <a:t>घर जग्गाको स्वामित्व कायम हुने  माध्यमः</a:t>
            </a:r>
            <a:endParaRPr lang="en-US" dirty="0">
              <a:cs typeface="Kalimati" pitchFamily="2"/>
            </a:endParaRPr>
          </a:p>
          <a:p>
            <a:r>
              <a:rPr lang="ne-NP" dirty="0">
                <a:cs typeface="Kalimati" pitchFamily="2"/>
              </a:rPr>
              <a:t>१ लिखतबाट</a:t>
            </a:r>
            <a:endParaRPr lang="en-US" dirty="0">
              <a:cs typeface="Kalimati" pitchFamily="2"/>
            </a:endParaRPr>
          </a:p>
          <a:p>
            <a:r>
              <a:rPr lang="ne-NP" dirty="0">
                <a:cs typeface="Kalimati" pitchFamily="2"/>
              </a:rPr>
              <a:t>२ निर्णयबाट</a:t>
            </a:r>
            <a:endParaRPr lang="en-US" dirty="0">
              <a:cs typeface="Kalimati" pitchFamily="2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e-NP" dirty="0" smtClean="0"/>
              <a:t>१.जग्गा रजिष्ट्रेशन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486400"/>
          </a:xfrm>
        </p:spPr>
        <p:txBody>
          <a:bodyPr/>
          <a:lstStyle/>
          <a:p>
            <a:r>
              <a:rPr lang="ne-NP" b="1" u="sng" dirty="0" smtClean="0">
                <a:cs typeface="Kalimati" pitchFamily="2"/>
              </a:rPr>
              <a:t>क </a:t>
            </a:r>
            <a:r>
              <a:rPr lang="ne-NP" b="1" u="sng" dirty="0">
                <a:cs typeface="Kalimati" pitchFamily="2"/>
              </a:rPr>
              <a:t>घरसारको व्यवहार </a:t>
            </a:r>
            <a:r>
              <a:rPr lang="en-US" b="1" u="sng" dirty="0">
                <a:cs typeface="Kalimati" pitchFamily="2"/>
              </a:rPr>
              <a:t>Private </a:t>
            </a:r>
            <a:r>
              <a:rPr lang="en-US" b="1" u="sng" dirty="0" err="1">
                <a:cs typeface="Kalimati" pitchFamily="2"/>
              </a:rPr>
              <a:t>Conveyancing</a:t>
            </a:r>
            <a:r>
              <a:rPr lang="ne-NP" b="1" u="sng" dirty="0">
                <a:cs typeface="Kalimati" pitchFamily="2"/>
              </a:rPr>
              <a:t> </a:t>
            </a:r>
            <a:endParaRPr lang="en-US" dirty="0">
              <a:cs typeface="Kalimati" pitchFamily="2"/>
            </a:endParaRPr>
          </a:p>
          <a:p>
            <a:r>
              <a:rPr lang="ne-NP" dirty="0">
                <a:cs typeface="Kalimati" pitchFamily="2"/>
              </a:rPr>
              <a:t>कार्यालयको कुनै रोहवर विना जग्गाको स्वामित्व हस्तान्तरण हुने ।</a:t>
            </a:r>
            <a:endParaRPr lang="en-US" dirty="0">
              <a:cs typeface="Kalimati" pitchFamily="2"/>
            </a:endParaRPr>
          </a:p>
          <a:p>
            <a:r>
              <a:rPr lang="ne-NP" dirty="0">
                <a:cs typeface="Kalimati" pitchFamily="2"/>
              </a:rPr>
              <a:t>यो व्यवस्था शुरु शुरुमा थियो । अहिले धेरै मुलुकहरुले छोडिसकेका छन । </a:t>
            </a:r>
            <a:endParaRPr lang="en-US" dirty="0">
              <a:cs typeface="Kalimati" pitchFamily="2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u="sng" dirty="0" smtClean="0"/>
              <a:t/>
            </a:r>
            <a:br>
              <a:rPr lang="en-US" b="1" u="sng" dirty="0" smtClean="0"/>
            </a:br>
            <a:r>
              <a:rPr lang="ne-NP" b="1" u="sng" dirty="0" smtClean="0"/>
              <a:t>ख</a:t>
            </a:r>
            <a:r>
              <a:rPr lang="en-US" b="1" u="sng" dirty="0" smtClean="0"/>
              <a:t>)</a:t>
            </a:r>
            <a:r>
              <a:rPr lang="ne-NP" b="1" u="sng" dirty="0" smtClean="0"/>
              <a:t> कार्यालयमा गई लिखत पारित गर्ने पद्धति </a:t>
            </a:r>
            <a:r>
              <a:rPr lang="en-US" b="1" u="sng" dirty="0" smtClean="0"/>
              <a:t>Registration of Deed System</a:t>
            </a:r>
            <a:r>
              <a:rPr lang="ne-NP" b="1" u="sng" dirty="0" smtClean="0"/>
              <a:t> 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686800" cy="5029200"/>
          </a:xfrm>
        </p:spPr>
        <p:txBody>
          <a:bodyPr>
            <a:normAutofit fontScale="85000" lnSpcReduction="10000"/>
          </a:bodyPr>
          <a:lstStyle/>
          <a:p>
            <a:r>
              <a:rPr lang="ne-NP" dirty="0" smtClean="0">
                <a:cs typeface="Kalimati" pitchFamily="2"/>
              </a:rPr>
              <a:t>जग्गा </a:t>
            </a:r>
            <a:r>
              <a:rPr lang="ne-NP" dirty="0">
                <a:cs typeface="Kalimati" pitchFamily="2"/>
              </a:rPr>
              <a:t>सम्बन्धी अभिलेख रहेको कार्यालयको रेकर्डमा भिडाई आफ्नो हकभोगको प्रमाणसाथ कार्यालयमा गई जग्गाको स्वामित्व परिबर्तन हुने विधि । </a:t>
            </a:r>
            <a:endParaRPr lang="en-US" dirty="0">
              <a:cs typeface="Kalimati" pitchFamily="2"/>
            </a:endParaRPr>
          </a:p>
          <a:p>
            <a:r>
              <a:rPr lang="ne-NP" dirty="0">
                <a:cs typeface="Kalimati" pitchFamily="2"/>
              </a:rPr>
              <a:t>जग्गामा हुने जालसाजी व्यवहारलाई नियन्त्रण गरी जग्गाको खरिद विक्रीमा निश्चितता तथा सुरक्षा प्रदान गर्ने । </a:t>
            </a:r>
            <a:endParaRPr lang="en-US" dirty="0">
              <a:cs typeface="Kalimati" pitchFamily="2"/>
            </a:endParaRPr>
          </a:p>
          <a:p>
            <a:r>
              <a:rPr lang="ne-NP" dirty="0">
                <a:cs typeface="Kalimati" pitchFamily="2"/>
              </a:rPr>
              <a:t>फ्रान्समा लिखत पारित गर्ने प्रचलन सन् १७८९ मा नेपोलियनले चलाएका थिए । अमेरिकामा १६४० मा दक्षिण अफ्रिकामा १८२८ मा र नेपालमा १९७९ बैशाख १ गते सनद जारी भई लिखत पारित गर्न शुरुवात गरिएको थियो । त्यसपछि हाल सम्म हामीले त्यही पद्दति अपनाई आएका छौ ।</a:t>
            </a:r>
            <a:r>
              <a:rPr lang="ne-NP" u="sng" dirty="0">
                <a:cs typeface="Kalimati" pitchFamily="2"/>
              </a:rPr>
              <a:t> </a:t>
            </a:r>
            <a:endParaRPr lang="en-US" dirty="0">
              <a:cs typeface="Kalimati" pitchFamily="2"/>
            </a:endParaRPr>
          </a:p>
          <a:p>
            <a:r>
              <a:rPr lang="en-US" dirty="0"/>
              <a:t> 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u="sng" dirty="0" smtClean="0"/>
              <a:t/>
            </a:r>
            <a:br>
              <a:rPr lang="en-US" b="1" u="sng" dirty="0" smtClean="0"/>
            </a:br>
            <a:r>
              <a:rPr lang="ne-NP" b="1" u="sng" dirty="0" smtClean="0"/>
              <a:t>ग</a:t>
            </a:r>
            <a:r>
              <a:rPr lang="en-US" b="1" u="sng" dirty="0" smtClean="0"/>
              <a:t>)</a:t>
            </a:r>
            <a:r>
              <a:rPr lang="ne-NP" b="1" u="sng" dirty="0" smtClean="0"/>
              <a:t> हकहिस्सा दर्ता पद्धति </a:t>
            </a:r>
            <a:r>
              <a:rPr lang="en-US" b="1" u="sng" dirty="0" smtClean="0"/>
              <a:t>Title Registration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534400" cy="5105400"/>
          </a:xfrm>
        </p:spPr>
        <p:txBody>
          <a:bodyPr>
            <a:normAutofit/>
          </a:bodyPr>
          <a:lstStyle/>
          <a:p>
            <a:r>
              <a:rPr lang="ne-NP" dirty="0" smtClean="0">
                <a:cs typeface="Kalimati" pitchFamily="2"/>
              </a:rPr>
              <a:t>कसैको </a:t>
            </a:r>
            <a:r>
              <a:rPr lang="ne-NP" dirty="0">
                <a:cs typeface="Kalimati" pitchFamily="2"/>
              </a:rPr>
              <a:t>हकमा स्पष्ट उल्लेख भई दर्ता गरिएको अभिलेखलाई अर्को पक्षको नामा सार्ने व्यवस्थाः</a:t>
            </a:r>
            <a:endParaRPr lang="en-US" dirty="0">
              <a:cs typeface="Kalimati" pitchFamily="2"/>
            </a:endParaRPr>
          </a:p>
          <a:p>
            <a:r>
              <a:rPr lang="ne-NP" dirty="0">
                <a:cs typeface="Kalimati" pitchFamily="2"/>
              </a:rPr>
              <a:t>प्रत्येक कित्ताको स्पष्ट चार किल्ला जग्गाको स्वामित्व हक भोग तथा तेश्रो पक्षसंगको अधिकार समेत उल्लेख गरिएको हुन्छ । कुनै कुराको त्रुटीबाट लेनदेनमा कच्चा ठहरे सरकारले त्यसको क्षतिपूर्ति दिनु पर्छ । </a:t>
            </a:r>
            <a:endParaRPr lang="en-US" dirty="0">
              <a:cs typeface="Kalimati" pitchFamily="2"/>
            </a:endParaRPr>
          </a:p>
          <a:p>
            <a:r>
              <a:rPr lang="ne-NP" dirty="0">
                <a:cs typeface="Kalimati" pitchFamily="2"/>
              </a:rPr>
              <a:t>यो पद्यति सुरक्षित सरल शुद्ध किफायती समय सापेक्ष हुन्छ । </a:t>
            </a:r>
            <a:endParaRPr lang="en-US" dirty="0">
              <a:cs typeface="Kalimati" pitchFamily="2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228600"/>
            <a:ext cx="8686800" cy="6400800"/>
          </a:xfrm>
        </p:spPr>
        <p:txBody>
          <a:bodyPr>
            <a:normAutofit lnSpcReduction="10000"/>
          </a:bodyPr>
          <a:lstStyle/>
          <a:p>
            <a:pPr lvl="0"/>
            <a:r>
              <a:rPr lang="ne-NP" dirty="0">
                <a:cs typeface="Kalimati" pitchFamily="2"/>
              </a:rPr>
              <a:t>लिखत दर्ता प्रणालीमा श्रेस्ताको आधारमा मान्छेको नाम उल्लेख भएको हुन्छ भने हकहिस्सा दर्ता प्रणालीमा जग्गा कित्तामा आधारित हुन्छ । </a:t>
            </a:r>
            <a:endParaRPr lang="en-US" dirty="0">
              <a:cs typeface="Kalimati" pitchFamily="2"/>
            </a:endParaRPr>
          </a:p>
          <a:p>
            <a:pPr lvl="0"/>
            <a:r>
              <a:rPr lang="ne-NP" dirty="0">
                <a:cs typeface="Kalimati" pitchFamily="2"/>
              </a:rPr>
              <a:t>मालपोत कार्यालयले प्रत्येक जग्गा दर्ता गरि राख्नु पर्ने व्यवस्था मालपोत ऐनको दफा ६</a:t>
            </a:r>
            <a:r>
              <a:rPr lang="en-US" dirty="0">
                <a:cs typeface="Kalimati" pitchFamily="2"/>
              </a:rPr>
              <a:t>(</a:t>
            </a:r>
            <a:r>
              <a:rPr lang="ne-NP" dirty="0">
                <a:cs typeface="Kalimati" pitchFamily="2"/>
              </a:rPr>
              <a:t>१</a:t>
            </a:r>
            <a:r>
              <a:rPr lang="en-US" dirty="0">
                <a:cs typeface="Kalimati" pitchFamily="2"/>
              </a:rPr>
              <a:t>)</a:t>
            </a:r>
            <a:r>
              <a:rPr lang="ne-NP" dirty="0">
                <a:cs typeface="Kalimati" pitchFamily="2"/>
              </a:rPr>
              <a:t> मा व्यवस्था भएको । यो व्यवस्था अनुसार कुनै पनि जग्गा सरकारी रुपमा दर्ता भएको हुन्छ । त्यस्तो दर्ता साविक लगत बमोजिम नापनक्साको समयमा पनि दर्ता हुन सक्छ ।त्यसै गरी नापनक्सा भई दर्ता बाँकी भए छुट जग्गाको रुपमा दर्ता हुने व्यवस्था रहन्छ । यस बाहेक दर्ता भएको जग्गा कुनै पनि व्यहोराले स्वामित्व परिपर्तन भएमा पनि जग्गा धनीको नाउँ पनि दर्ता हुनु पर्छ । त्यसलाई पनि दर्ताको रुपमै हेरिने गरिन्छ । </a:t>
            </a:r>
            <a:endParaRPr lang="en-US" dirty="0">
              <a:cs typeface="Kalimati" pitchFamily="2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458200" cy="5638800"/>
          </a:xfrm>
        </p:spPr>
        <p:txBody>
          <a:bodyPr>
            <a:normAutofit/>
          </a:bodyPr>
          <a:lstStyle/>
          <a:p>
            <a:pPr lvl="1"/>
            <a:r>
              <a:rPr lang="ne-NP" dirty="0" smtClean="0">
                <a:cs typeface="Kalimati" pitchFamily="2"/>
              </a:rPr>
              <a:t>माल </a:t>
            </a:r>
            <a:r>
              <a:rPr lang="ne-NP" dirty="0">
                <a:cs typeface="Kalimati" pitchFamily="2"/>
              </a:rPr>
              <a:t>कार्यालयबाट सर्बप्रथम १९७९।१।१ गते देखि लिखत पारित गर्न शुरु भएको</a:t>
            </a:r>
            <a:endParaRPr lang="en-US" sz="3600" dirty="0">
              <a:cs typeface="Kalimati" pitchFamily="2"/>
            </a:endParaRPr>
          </a:p>
          <a:p>
            <a:pPr lvl="1"/>
            <a:r>
              <a:rPr lang="ne-NP" dirty="0">
                <a:cs typeface="Kalimati" pitchFamily="2"/>
              </a:rPr>
              <a:t>जिम्मुवाल</a:t>
            </a:r>
            <a:r>
              <a:rPr lang="en-US" sz="3600" dirty="0">
                <a:cs typeface="Kalimati" pitchFamily="2"/>
              </a:rPr>
              <a:t>,</a:t>
            </a:r>
            <a:r>
              <a:rPr lang="ne-NP" dirty="0">
                <a:cs typeface="Kalimati" pitchFamily="2"/>
              </a:rPr>
              <a:t> मुखिया</a:t>
            </a:r>
            <a:r>
              <a:rPr lang="en-US" sz="3600" dirty="0">
                <a:cs typeface="Kalimati" pitchFamily="2"/>
              </a:rPr>
              <a:t>,</a:t>
            </a:r>
            <a:r>
              <a:rPr lang="ne-NP" dirty="0">
                <a:cs typeface="Kalimati" pitchFamily="2"/>
              </a:rPr>
              <a:t> पटवारी</a:t>
            </a:r>
            <a:r>
              <a:rPr lang="ne-NP" sz="3600" dirty="0">
                <a:cs typeface="Kalimati" pitchFamily="2"/>
              </a:rPr>
              <a:t> </a:t>
            </a:r>
            <a:r>
              <a:rPr lang="ne-NP" dirty="0">
                <a:cs typeface="Kalimati" pitchFamily="2"/>
              </a:rPr>
              <a:t> र चौधरी</a:t>
            </a:r>
            <a:endParaRPr lang="en-US" sz="3600" dirty="0">
              <a:cs typeface="Kalimati" pitchFamily="2"/>
            </a:endParaRPr>
          </a:p>
          <a:p>
            <a:pPr lvl="1"/>
            <a:r>
              <a:rPr lang="ne-NP" dirty="0">
                <a:cs typeface="Kalimati" pitchFamily="2"/>
              </a:rPr>
              <a:t>रजिष्ट्रेशन गर्ने निकायहरु</a:t>
            </a:r>
            <a:endParaRPr lang="en-US" sz="3600" dirty="0">
              <a:cs typeface="Kalimati" pitchFamily="2"/>
            </a:endParaRPr>
          </a:p>
          <a:p>
            <a:r>
              <a:rPr lang="ne-NP" dirty="0">
                <a:cs typeface="Kalimati" pitchFamily="2"/>
              </a:rPr>
              <a:t>   </a:t>
            </a:r>
            <a:endParaRPr lang="en-US" sz="4000" dirty="0">
              <a:cs typeface="Kalimati" pitchFamily="2"/>
            </a:endParaRPr>
          </a:p>
          <a:p>
            <a:r>
              <a:rPr lang="ne-NP" dirty="0">
                <a:cs typeface="Kalimati" pitchFamily="2"/>
              </a:rPr>
              <a:t>माल अड्डा</a:t>
            </a:r>
            <a:r>
              <a:rPr lang="en-US" sz="4000" dirty="0">
                <a:cs typeface="Kalimati" pitchFamily="2"/>
              </a:rPr>
              <a:t>,</a:t>
            </a:r>
            <a:r>
              <a:rPr lang="ne-NP" dirty="0">
                <a:cs typeface="Kalimati" pitchFamily="2"/>
              </a:rPr>
              <a:t> पहिलो माल र दोश्रो माल</a:t>
            </a:r>
            <a:r>
              <a:rPr lang="en-US" sz="4000" dirty="0">
                <a:cs typeface="Kalimati" pitchFamily="2"/>
              </a:rPr>
              <a:t>,</a:t>
            </a:r>
            <a:r>
              <a:rPr lang="ne-NP" dirty="0">
                <a:cs typeface="Kalimati" pitchFamily="2"/>
              </a:rPr>
              <a:t> भूमिप्रशासन कार्यालय</a:t>
            </a:r>
            <a:r>
              <a:rPr lang="en-US" sz="4000" dirty="0">
                <a:cs typeface="Kalimati" pitchFamily="2"/>
              </a:rPr>
              <a:t>,</a:t>
            </a:r>
            <a:r>
              <a:rPr lang="ne-NP" dirty="0">
                <a:cs typeface="Kalimati" pitchFamily="2"/>
              </a:rPr>
              <a:t> माल कार्यालय</a:t>
            </a:r>
            <a:r>
              <a:rPr lang="en-US" sz="4000" dirty="0">
                <a:cs typeface="Kalimati" pitchFamily="2"/>
              </a:rPr>
              <a:t>,</a:t>
            </a:r>
            <a:r>
              <a:rPr lang="ne-NP" dirty="0">
                <a:cs typeface="Kalimati" pitchFamily="2"/>
              </a:rPr>
              <a:t> तहसील </a:t>
            </a:r>
            <a:r>
              <a:rPr lang="en-US" sz="4000" dirty="0">
                <a:cs typeface="Kalimati" pitchFamily="2"/>
              </a:rPr>
              <a:t>   </a:t>
            </a:r>
            <a:r>
              <a:rPr lang="ne-NP" dirty="0">
                <a:cs typeface="Kalimati" pitchFamily="2"/>
              </a:rPr>
              <a:t>कार्यालय र मालपोत कार्यालय</a:t>
            </a:r>
            <a:endParaRPr lang="en-US" sz="4000" dirty="0">
              <a:cs typeface="Kalimati" pitchFamily="2"/>
            </a:endParaRPr>
          </a:p>
          <a:p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1" y="-609600"/>
            <a:ext cx="8686800" cy="17666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endParaRPr lang="en-US" sz="3200" b="1" dirty="0" smtClean="0">
              <a:solidFill>
                <a:prstClr val="black"/>
              </a:solidFill>
            </a:endParaRP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endParaRPr lang="en-US" sz="3200" b="1" dirty="0">
              <a:solidFill>
                <a:prstClr val="black"/>
              </a:solidFill>
            </a:endParaRP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ne-NP" sz="3200" b="1" dirty="0" smtClean="0">
                <a:solidFill>
                  <a:prstClr val="black"/>
                </a:solidFill>
              </a:rPr>
              <a:t>२.नेपालमा </a:t>
            </a:r>
            <a:r>
              <a:rPr lang="ne-NP" sz="3200" b="1" dirty="0">
                <a:solidFill>
                  <a:prstClr val="black"/>
                </a:solidFill>
              </a:rPr>
              <a:t>जग्गा रजिष्ट्रेशनका विशेषताहरुः</a:t>
            </a:r>
            <a:endParaRPr lang="en-US" sz="4000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e-NP" b="1" u="sng" dirty="0" smtClean="0"/>
              <a:t>३.लिखतको विशेषताः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458200" cy="5562600"/>
          </a:xfrm>
        </p:spPr>
        <p:txBody>
          <a:bodyPr>
            <a:normAutofit lnSpcReduction="10000"/>
          </a:bodyPr>
          <a:lstStyle/>
          <a:p>
            <a:pPr lvl="0"/>
            <a:r>
              <a:rPr lang="ne-NP" dirty="0" smtClean="0">
                <a:cs typeface="Kalimati" pitchFamily="2"/>
              </a:rPr>
              <a:t>लिखतमा </a:t>
            </a:r>
            <a:r>
              <a:rPr lang="ne-NP" dirty="0">
                <a:cs typeface="Kalimati" pitchFamily="2"/>
              </a:rPr>
              <a:t>नाम</a:t>
            </a:r>
            <a:r>
              <a:rPr lang="en-US" dirty="0">
                <a:cs typeface="Kalimati" pitchFamily="2"/>
              </a:rPr>
              <a:t>,</a:t>
            </a:r>
            <a:r>
              <a:rPr lang="ne-NP" dirty="0">
                <a:cs typeface="Kalimati" pitchFamily="2"/>
              </a:rPr>
              <a:t> थर</a:t>
            </a:r>
            <a:r>
              <a:rPr lang="en-US" dirty="0">
                <a:cs typeface="Kalimati" pitchFamily="2"/>
              </a:rPr>
              <a:t>,</a:t>
            </a:r>
            <a:r>
              <a:rPr lang="ne-NP" dirty="0">
                <a:cs typeface="Kalimati" pitchFamily="2"/>
              </a:rPr>
              <a:t> वतन</a:t>
            </a:r>
            <a:r>
              <a:rPr lang="en-US" dirty="0">
                <a:cs typeface="Kalimati" pitchFamily="2"/>
              </a:rPr>
              <a:t>,</a:t>
            </a:r>
            <a:r>
              <a:rPr lang="ne-NP" dirty="0">
                <a:cs typeface="Kalimati" pitchFamily="2"/>
              </a:rPr>
              <a:t> उमेर उल्लेख भएको हुने</a:t>
            </a:r>
            <a:r>
              <a:rPr lang="en-US" dirty="0">
                <a:cs typeface="Kalimati" pitchFamily="2"/>
              </a:rPr>
              <a:t>,</a:t>
            </a:r>
          </a:p>
          <a:p>
            <a:pPr lvl="0"/>
            <a:r>
              <a:rPr lang="ne-NP" dirty="0">
                <a:cs typeface="Kalimati" pitchFamily="2"/>
              </a:rPr>
              <a:t>जग्गाको साविक र हालको दुवै विवरण खुलेको हुने । जस्तै साविक लगतमा मौजा</a:t>
            </a:r>
            <a:r>
              <a:rPr lang="en-US" dirty="0">
                <a:cs typeface="Kalimati" pitchFamily="2"/>
              </a:rPr>
              <a:t>,</a:t>
            </a:r>
            <a:r>
              <a:rPr lang="ne-NP" dirty="0">
                <a:cs typeface="Kalimati" pitchFamily="2"/>
              </a:rPr>
              <a:t> खला</a:t>
            </a:r>
            <a:r>
              <a:rPr lang="en-US" dirty="0">
                <a:cs typeface="Kalimati" pitchFamily="2"/>
              </a:rPr>
              <a:t>,</a:t>
            </a:r>
            <a:r>
              <a:rPr lang="ne-NP" dirty="0">
                <a:cs typeface="Kalimati" pitchFamily="2"/>
              </a:rPr>
              <a:t> रैति र तालुकीदारको नाम त्यसैगरी हालको अवस्थामा गाविस</a:t>
            </a:r>
            <a:r>
              <a:rPr lang="en-US" dirty="0">
                <a:cs typeface="Kalimati" pitchFamily="2"/>
              </a:rPr>
              <a:t>,</a:t>
            </a:r>
            <a:r>
              <a:rPr lang="ne-NP" dirty="0">
                <a:cs typeface="Kalimati" pitchFamily="2"/>
              </a:rPr>
              <a:t> वडा नं</a:t>
            </a:r>
            <a:r>
              <a:rPr lang="en-US" dirty="0">
                <a:cs typeface="Kalimati" pitchFamily="2"/>
              </a:rPr>
              <a:t>,</a:t>
            </a:r>
            <a:r>
              <a:rPr lang="ne-NP" dirty="0">
                <a:cs typeface="Kalimati" pitchFamily="2"/>
              </a:rPr>
              <a:t> कित्ता नंम्बर</a:t>
            </a:r>
            <a:r>
              <a:rPr lang="en-US" dirty="0">
                <a:cs typeface="Kalimati" pitchFamily="2"/>
              </a:rPr>
              <a:t>,</a:t>
            </a:r>
            <a:r>
              <a:rPr lang="ne-NP" dirty="0">
                <a:cs typeface="Kalimati" pitchFamily="2"/>
              </a:rPr>
              <a:t> क्षेत्रफल</a:t>
            </a:r>
            <a:r>
              <a:rPr lang="en-US" dirty="0">
                <a:cs typeface="Kalimati" pitchFamily="2"/>
              </a:rPr>
              <a:t>,</a:t>
            </a:r>
            <a:r>
              <a:rPr lang="ne-NP" dirty="0">
                <a:cs typeface="Kalimati" pitchFamily="2"/>
              </a:rPr>
              <a:t>किसिम</a:t>
            </a:r>
            <a:r>
              <a:rPr lang="en-US" dirty="0">
                <a:cs typeface="Kalimati" pitchFamily="2"/>
              </a:rPr>
              <a:t>,</a:t>
            </a:r>
            <a:r>
              <a:rPr lang="ne-NP" dirty="0">
                <a:cs typeface="Kalimati" pitchFamily="2"/>
              </a:rPr>
              <a:t> मोही</a:t>
            </a:r>
            <a:r>
              <a:rPr lang="en-US" dirty="0">
                <a:cs typeface="Kalimati" pitchFamily="2"/>
              </a:rPr>
              <a:t>,</a:t>
            </a:r>
            <a:r>
              <a:rPr lang="ne-NP" dirty="0">
                <a:cs typeface="Kalimati" pitchFamily="2"/>
              </a:rPr>
              <a:t> हकहिस्सा समेत उल्लेख भएको हुने</a:t>
            </a:r>
            <a:r>
              <a:rPr lang="en-US" dirty="0">
                <a:cs typeface="Kalimati" pitchFamily="2"/>
              </a:rPr>
              <a:t>,</a:t>
            </a:r>
          </a:p>
          <a:p>
            <a:pPr lvl="0"/>
            <a:r>
              <a:rPr lang="ne-NP" dirty="0">
                <a:cs typeface="Kalimati" pitchFamily="2"/>
              </a:rPr>
              <a:t>लेनदेन व्यवहारको रकम साँक्षी</a:t>
            </a:r>
            <a:r>
              <a:rPr lang="en-US" dirty="0">
                <a:cs typeface="Kalimati" pitchFamily="2"/>
              </a:rPr>
              <a:t>,</a:t>
            </a:r>
            <a:r>
              <a:rPr lang="ne-NP" dirty="0">
                <a:cs typeface="Kalimati" pitchFamily="2"/>
              </a:rPr>
              <a:t> लिखत भएको ठाउँ</a:t>
            </a:r>
            <a:r>
              <a:rPr lang="en-US" dirty="0">
                <a:cs typeface="Kalimati" pitchFamily="2"/>
              </a:rPr>
              <a:t>,</a:t>
            </a:r>
            <a:r>
              <a:rPr lang="ne-NP" dirty="0">
                <a:cs typeface="Kalimati" pitchFamily="2"/>
              </a:rPr>
              <a:t> लिखत पास गरिदिने म्याद</a:t>
            </a:r>
            <a:r>
              <a:rPr lang="en-US" dirty="0">
                <a:cs typeface="Kalimati" pitchFamily="2"/>
              </a:rPr>
              <a:t>,</a:t>
            </a:r>
            <a:r>
              <a:rPr lang="ne-NP" dirty="0">
                <a:cs typeface="Kalimati" pitchFamily="2"/>
              </a:rPr>
              <a:t> लिखत गरिदिनु परेको कारण वा व्यहोरा</a:t>
            </a:r>
            <a:r>
              <a:rPr lang="en-US" dirty="0">
                <a:cs typeface="Kalimati" pitchFamily="2"/>
              </a:rPr>
              <a:t>,</a:t>
            </a:r>
            <a:r>
              <a:rPr lang="ne-NP" dirty="0">
                <a:cs typeface="Kalimati" pitchFamily="2"/>
              </a:rPr>
              <a:t> भोग गर्ने समय र मिति उल्लेख भएको हुने गर्छ । </a:t>
            </a:r>
            <a:endParaRPr lang="en-US" dirty="0">
              <a:cs typeface="Kalimati" pitchFamily="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e-NP" b="1" dirty="0" smtClean="0"/>
              <a:t>लिखतको प्रकारः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382000" cy="4906963"/>
          </a:xfrm>
        </p:spPr>
        <p:txBody>
          <a:bodyPr>
            <a:normAutofit lnSpcReduction="10000"/>
          </a:bodyPr>
          <a:lstStyle/>
          <a:p>
            <a:pPr lvl="0"/>
            <a:endParaRPr lang="en-US" dirty="0"/>
          </a:p>
          <a:p>
            <a:pPr lvl="0"/>
            <a:r>
              <a:rPr lang="ne-NP" dirty="0">
                <a:cs typeface="Kalimati" pitchFamily="2"/>
              </a:rPr>
              <a:t>राजिनामा</a:t>
            </a:r>
            <a:r>
              <a:rPr lang="en-US" dirty="0">
                <a:cs typeface="Kalimati" pitchFamily="2"/>
              </a:rPr>
              <a:t>,</a:t>
            </a:r>
          </a:p>
          <a:p>
            <a:pPr lvl="0"/>
            <a:r>
              <a:rPr lang="ne-NP" dirty="0">
                <a:cs typeface="Kalimati" pitchFamily="2"/>
              </a:rPr>
              <a:t>अंशबण्डा अंश भरपाइ र अंश छोडपत्र</a:t>
            </a:r>
            <a:r>
              <a:rPr lang="en-US" dirty="0">
                <a:cs typeface="Kalimati" pitchFamily="2"/>
              </a:rPr>
              <a:t>,</a:t>
            </a:r>
          </a:p>
          <a:p>
            <a:pPr lvl="0"/>
            <a:r>
              <a:rPr lang="ne-NP" dirty="0">
                <a:cs typeface="Kalimati" pitchFamily="2"/>
              </a:rPr>
              <a:t>हालैदेखिको र शेषपछिको बकसपत्र</a:t>
            </a:r>
            <a:r>
              <a:rPr lang="en-US" dirty="0">
                <a:cs typeface="Kalimati" pitchFamily="2"/>
              </a:rPr>
              <a:t>,</a:t>
            </a:r>
          </a:p>
          <a:p>
            <a:pPr lvl="0"/>
            <a:r>
              <a:rPr lang="ne-NP" dirty="0">
                <a:cs typeface="Kalimati" pitchFamily="2"/>
              </a:rPr>
              <a:t>मानो जोडिएको वा मानो छुट्टिएको</a:t>
            </a:r>
            <a:r>
              <a:rPr lang="en-US" dirty="0">
                <a:cs typeface="Kalimati" pitchFamily="2"/>
              </a:rPr>
              <a:t>,</a:t>
            </a:r>
          </a:p>
          <a:p>
            <a:pPr lvl="0"/>
            <a:r>
              <a:rPr lang="ne-NP" dirty="0">
                <a:cs typeface="Kalimati" pitchFamily="2"/>
              </a:rPr>
              <a:t>बन्धकीको तमसुक दृष्टिबन्धक भोगबन्धकी लखबन्धकी  र</a:t>
            </a:r>
            <a:endParaRPr lang="en-US" dirty="0">
              <a:cs typeface="Kalimati" pitchFamily="2"/>
            </a:endParaRPr>
          </a:p>
          <a:p>
            <a:pPr lvl="0"/>
            <a:r>
              <a:rPr lang="ne-NP" dirty="0">
                <a:cs typeface="Kalimati" pitchFamily="2"/>
              </a:rPr>
              <a:t>अधिकारनामा</a:t>
            </a:r>
            <a:r>
              <a:rPr lang="en-US" dirty="0">
                <a:cs typeface="Kalimati" pitchFamily="2"/>
              </a:rPr>
              <a:t>,</a:t>
            </a:r>
            <a:r>
              <a:rPr lang="ne-NP" dirty="0">
                <a:cs typeface="Kalimati" pitchFamily="2"/>
              </a:rPr>
              <a:t> मञ्जुरीनामा</a:t>
            </a:r>
            <a:r>
              <a:rPr lang="en-US" dirty="0">
                <a:cs typeface="Kalimati" pitchFamily="2"/>
              </a:rPr>
              <a:t>,</a:t>
            </a:r>
            <a:r>
              <a:rPr lang="ne-NP" dirty="0">
                <a:cs typeface="Kalimati" pitchFamily="2"/>
              </a:rPr>
              <a:t> करारनामा र कपाली तमसुक ।</a:t>
            </a:r>
            <a:endParaRPr lang="en-US" dirty="0">
              <a:cs typeface="Kalimati" pitchFamily="2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e-NP" b="1" u="sng" dirty="0" smtClean="0"/>
              <a:t>५.लिखत पारित गर्ने तरिकाः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534400" cy="5867400"/>
          </a:xfrm>
        </p:spPr>
        <p:txBody>
          <a:bodyPr>
            <a:normAutofit/>
          </a:bodyPr>
          <a:lstStyle/>
          <a:p>
            <a:r>
              <a:rPr lang="ne-NP" dirty="0" smtClean="0">
                <a:cs typeface="Kalimati" pitchFamily="2"/>
              </a:rPr>
              <a:t>जग्गाको </a:t>
            </a:r>
            <a:r>
              <a:rPr lang="ne-NP" dirty="0">
                <a:cs typeface="Kalimati" pitchFamily="2"/>
              </a:rPr>
              <a:t>स्वामित्व परिबर्तनमा सवै भन्दा बढी प्रयोग हुने माध्यम नै लिखत रजिष्ट्रेशन नै हो । लिखत रजिष्ट्रेशन गर्ने अड्डाको रुपमा मालपोत कार्यालयलाई तोकिएको हुन्छ । मालपोत कार्यालयमा जग्गाको श्रेस्ता रहने र त्यसको नक्सा र फिल्डबुक नापी कार्यालयमा हुने भएकाले कुनै पनि जग्गाको लिखत पारित हुंदा यी दुई कार्यालय बिचको सम्बन्ध अन्योन्यश्रित रहन्छ । लिखत पारित गर्दा ध्यान दिनु पर्ने विषयहरुः</a:t>
            </a:r>
            <a:endParaRPr lang="en-US" dirty="0">
              <a:cs typeface="Kalimati" pitchFamily="2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8600"/>
            <a:ext cx="8382000" cy="6248400"/>
          </a:xfrm>
        </p:spPr>
        <p:txBody>
          <a:bodyPr>
            <a:normAutofit lnSpcReduction="10000"/>
          </a:bodyPr>
          <a:lstStyle/>
          <a:p>
            <a:pPr lvl="0"/>
            <a:r>
              <a:rPr lang="ne-NP" dirty="0">
                <a:cs typeface="Kalimati" pitchFamily="2"/>
              </a:rPr>
              <a:t>लिखत कुन प्रकारको हो यकिन गर्ने</a:t>
            </a:r>
            <a:r>
              <a:rPr lang="en-US" dirty="0">
                <a:cs typeface="Kalimati" pitchFamily="2"/>
              </a:rPr>
              <a:t>,</a:t>
            </a:r>
          </a:p>
          <a:p>
            <a:pPr lvl="0"/>
            <a:r>
              <a:rPr lang="ne-NP" dirty="0">
                <a:cs typeface="Kalimati" pitchFamily="2"/>
              </a:rPr>
              <a:t>लिने दिनेको सनाखत रुजु गर्ने</a:t>
            </a:r>
            <a:r>
              <a:rPr lang="en-US" dirty="0">
                <a:cs typeface="Kalimati" pitchFamily="2"/>
              </a:rPr>
              <a:t>,</a:t>
            </a:r>
            <a:r>
              <a:rPr lang="ne-NP" dirty="0">
                <a:cs typeface="Kalimati" pitchFamily="2"/>
              </a:rPr>
              <a:t> </a:t>
            </a:r>
            <a:endParaRPr lang="en-US" dirty="0">
              <a:cs typeface="Kalimati" pitchFamily="2"/>
            </a:endParaRPr>
          </a:p>
          <a:p>
            <a:pPr lvl="0"/>
            <a:r>
              <a:rPr lang="ne-NP" dirty="0">
                <a:cs typeface="Kalimati" pitchFamily="2"/>
              </a:rPr>
              <a:t>सनाखत साक्षी र तिनको सहीछाप रुजु गर्ने</a:t>
            </a:r>
            <a:r>
              <a:rPr lang="en-US" dirty="0">
                <a:cs typeface="Kalimati" pitchFamily="2"/>
              </a:rPr>
              <a:t>,</a:t>
            </a:r>
          </a:p>
          <a:p>
            <a:pPr lvl="0"/>
            <a:r>
              <a:rPr lang="ne-NP" dirty="0">
                <a:cs typeface="Kalimati" pitchFamily="2"/>
              </a:rPr>
              <a:t>दिने लिने व्यक्तिको नाम</a:t>
            </a:r>
            <a:r>
              <a:rPr lang="en-US" dirty="0">
                <a:cs typeface="Kalimati" pitchFamily="2"/>
              </a:rPr>
              <a:t>, </a:t>
            </a:r>
            <a:r>
              <a:rPr lang="ne-NP" dirty="0">
                <a:cs typeface="Kalimati" pitchFamily="2"/>
              </a:rPr>
              <a:t>थर वतन र उमेर रुजु गर्ने</a:t>
            </a:r>
            <a:r>
              <a:rPr lang="en-US" dirty="0">
                <a:cs typeface="Kalimati" pitchFamily="2"/>
              </a:rPr>
              <a:t>,</a:t>
            </a:r>
          </a:p>
          <a:p>
            <a:pPr lvl="0"/>
            <a:r>
              <a:rPr lang="ne-NP" dirty="0">
                <a:cs typeface="Kalimati" pitchFamily="2"/>
              </a:rPr>
              <a:t>उल्लेख गरेको जग्गाको मोठ रोक्का रुजु गर्ने</a:t>
            </a:r>
            <a:r>
              <a:rPr lang="en-US" dirty="0">
                <a:cs typeface="Kalimati" pitchFamily="2"/>
              </a:rPr>
              <a:t>,</a:t>
            </a:r>
          </a:p>
          <a:p>
            <a:pPr lvl="0"/>
            <a:r>
              <a:rPr lang="ne-NP" dirty="0">
                <a:cs typeface="Kalimati" pitchFamily="2"/>
              </a:rPr>
              <a:t>पारित हुने जग्गा मध्ये भए तर्फ समेत यकिन गर्ने</a:t>
            </a:r>
            <a:r>
              <a:rPr lang="en-US" dirty="0">
                <a:cs typeface="Kalimati" pitchFamily="2"/>
              </a:rPr>
              <a:t>,</a:t>
            </a:r>
            <a:r>
              <a:rPr lang="ne-NP" dirty="0">
                <a:cs typeface="Kalimati" pitchFamily="2"/>
              </a:rPr>
              <a:t> </a:t>
            </a:r>
            <a:endParaRPr lang="en-US" dirty="0">
              <a:cs typeface="Kalimati" pitchFamily="2"/>
            </a:endParaRPr>
          </a:p>
          <a:p>
            <a:pPr lvl="0"/>
            <a:r>
              <a:rPr lang="ne-NP" dirty="0">
                <a:cs typeface="Kalimati" pitchFamily="2"/>
              </a:rPr>
              <a:t>कि.का.को लागि नापी कार्यालय पठाउने</a:t>
            </a:r>
            <a:r>
              <a:rPr lang="en-US" dirty="0">
                <a:cs typeface="Kalimati" pitchFamily="2"/>
              </a:rPr>
              <a:t>,</a:t>
            </a:r>
          </a:p>
          <a:p>
            <a:pPr lvl="0"/>
            <a:r>
              <a:rPr lang="ne-NP" dirty="0">
                <a:cs typeface="Kalimati" pitchFamily="2"/>
              </a:rPr>
              <a:t>माग बमोजिम कि.का. भएको छ छैन यकिन गर्ने</a:t>
            </a:r>
            <a:r>
              <a:rPr lang="en-US" dirty="0">
                <a:cs typeface="Kalimati" pitchFamily="2"/>
              </a:rPr>
              <a:t>,</a:t>
            </a:r>
            <a:r>
              <a:rPr lang="ne-NP" dirty="0">
                <a:cs typeface="Kalimati" pitchFamily="2"/>
              </a:rPr>
              <a:t> </a:t>
            </a:r>
            <a:endParaRPr lang="en-US" dirty="0">
              <a:cs typeface="Kalimati" pitchFamily="2"/>
            </a:endParaRPr>
          </a:p>
          <a:p>
            <a:pPr lvl="0"/>
            <a:r>
              <a:rPr lang="ne-NP" dirty="0">
                <a:cs typeface="Kalimati" pitchFamily="2"/>
              </a:rPr>
              <a:t>घर बाटो यकिन गर्ने</a:t>
            </a:r>
            <a:r>
              <a:rPr lang="en-US" dirty="0">
                <a:cs typeface="Kalimati" pitchFamily="2"/>
              </a:rPr>
              <a:t>,</a:t>
            </a:r>
          </a:p>
          <a:p>
            <a:pPr lvl="0"/>
            <a:r>
              <a:rPr lang="ne-NP" dirty="0">
                <a:cs typeface="Kalimati" pitchFamily="2"/>
              </a:rPr>
              <a:t>मूल्याङकन समेत रुजु गर्ने</a:t>
            </a:r>
            <a:r>
              <a:rPr lang="en-US" dirty="0">
                <a:cs typeface="Kalimati" pitchFamily="2"/>
              </a:rPr>
              <a:t>,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8600"/>
            <a:ext cx="8229600" cy="6400800"/>
          </a:xfrm>
        </p:spPr>
        <p:txBody>
          <a:bodyPr>
            <a:normAutofit/>
          </a:bodyPr>
          <a:lstStyle/>
          <a:p>
            <a:pPr lvl="0"/>
            <a:r>
              <a:rPr lang="ne-NP" dirty="0"/>
              <a:t>हदबन्दी भित्र वा बाहिरको कुन खाले लिखत हो यकिन गर्ने</a:t>
            </a:r>
            <a:r>
              <a:rPr lang="en-US" dirty="0"/>
              <a:t>,</a:t>
            </a:r>
          </a:p>
          <a:p>
            <a:pPr lvl="0"/>
            <a:r>
              <a:rPr lang="ne-NP" dirty="0"/>
              <a:t>पशुपति क्षेत्र भित्रको जग्गाको लिखत पारित</a:t>
            </a:r>
            <a:r>
              <a:rPr lang="en-US" dirty="0"/>
              <a:t>,</a:t>
            </a:r>
          </a:p>
          <a:p>
            <a:pPr lvl="0"/>
            <a:r>
              <a:rPr lang="ne-NP" dirty="0"/>
              <a:t>डोरबाट पारित हुने लिखत</a:t>
            </a:r>
            <a:r>
              <a:rPr lang="en-US" dirty="0"/>
              <a:t>,</a:t>
            </a:r>
          </a:p>
          <a:p>
            <a:pPr lvl="0"/>
            <a:r>
              <a:rPr lang="ne-NP" dirty="0"/>
              <a:t>अधिधृतवारेशबाट पारित हुने लिखत</a:t>
            </a:r>
            <a:r>
              <a:rPr lang="en-US" dirty="0"/>
              <a:t>,</a:t>
            </a:r>
          </a:p>
          <a:p>
            <a:pPr lvl="0"/>
            <a:r>
              <a:rPr lang="ne-NP" dirty="0"/>
              <a:t>नावालक वा बृद्धको नाउँको लिखत</a:t>
            </a:r>
            <a:r>
              <a:rPr lang="en-US" dirty="0"/>
              <a:t>,</a:t>
            </a:r>
            <a:r>
              <a:rPr lang="ne-NP" dirty="0"/>
              <a:t> </a:t>
            </a:r>
            <a:endParaRPr lang="en-US" dirty="0"/>
          </a:p>
          <a:p>
            <a:pPr lvl="0"/>
            <a:r>
              <a:rPr lang="ne-NP" dirty="0"/>
              <a:t>संघ संस्थाको नाउँको  लिखत</a:t>
            </a:r>
            <a:r>
              <a:rPr lang="en-US" dirty="0"/>
              <a:t>,</a:t>
            </a:r>
            <a:r>
              <a:rPr lang="ne-NP" dirty="0"/>
              <a:t> </a:t>
            </a:r>
            <a:endParaRPr lang="en-US" dirty="0"/>
          </a:p>
          <a:p>
            <a:pPr lvl="0"/>
            <a:r>
              <a:rPr lang="ne-NP" dirty="0"/>
              <a:t>मोही लागेको जग्गाको लिखत</a:t>
            </a:r>
            <a:r>
              <a:rPr lang="en-US" dirty="0"/>
              <a:t>,</a:t>
            </a:r>
          </a:p>
          <a:p>
            <a:pPr lvl="0"/>
            <a:r>
              <a:rPr lang="ne-NP" dirty="0"/>
              <a:t>खण्डे जग्गाको लिखत</a:t>
            </a:r>
            <a:r>
              <a:rPr lang="en-US" dirty="0"/>
              <a:t>,</a:t>
            </a:r>
          </a:p>
          <a:p>
            <a:pPr lvl="0"/>
            <a:r>
              <a:rPr lang="ne-NP" dirty="0"/>
              <a:t>हकहिस्सा साझा भएको जग्गाको लिखत</a:t>
            </a:r>
            <a:r>
              <a:rPr lang="en-US" dirty="0"/>
              <a:t>,</a:t>
            </a:r>
            <a:r>
              <a:rPr lang="ne-NP" dirty="0"/>
              <a:t> </a:t>
            </a:r>
            <a:endParaRPr lang="en-US" dirty="0"/>
          </a:p>
          <a:p>
            <a:pPr lvl="0"/>
            <a:r>
              <a:rPr lang="ne-NP" dirty="0"/>
              <a:t>लिखत पारित गर्ने अधिकारी</a:t>
            </a:r>
            <a:r>
              <a:rPr lang="en-US" dirty="0"/>
              <a:t>,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e-NP" b="1" u="sng" dirty="0" smtClean="0"/>
              <a:t>६.नेपालमा जग्गा दर्ताका प्रक्रियाहरुः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686800" cy="5791200"/>
          </a:xfrm>
        </p:spPr>
        <p:txBody>
          <a:bodyPr>
            <a:normAutofit fontScale="77500" lnSpcReduction="20000"/>
          </a:bodyPr>
          <a:lstStyle/>
          <a:p>
            <a:r>
              <a:rPr lang="ne-NP" dirty="0" smtClean="0">
                <a:cs typeface="Kalimati" pitchFamily="2"/>
              </a:rPr>
              <a:t>नेपालमा </a:t>
            </a:r>
            <a:r>
              <a:rPr lang="ne-NP" dirty="0">
                <a:cs typeface="Kalimati" pitchFamily="2"/>
              </a:rPr>
              <a:t>जग्गा दर्ताका प्रक्रिया र अवस्थालाई हेर्दा दुइ खण्डमा विभाजन गर्न सकिन्छः</a:t>
            </a:r>
            <a:endParaRPr lang="en-US" dirty="0">
              <a:cs typeface="Kalimati" pitchFamily="2"/>
            </a:endParaRPr>
          </a:p>
          <a:p>
            <a:r>
              <a:rPr lang="ne-NP" dirty="0">
                <a:cs typeface="Kalimati" pitchFamily="2"/>
              </a:rPr>
              <a:t>१.कित्ता नापी हुनु पूर्व </a:t>
            </a:r>
            <a:endParaRPr lang="en-US" dirty="0">
              <a:cs typeface="Kalimati" pitchFamily="2"/>
            </a:endParaRPr>
          </a:p>
          <a:p>
            <a:r>
              <a:rPr lang="ne-NP" dirty="0">
                <a:cs typeface="Kalimati" pitchFamily="2"/>
              </a:rPr>
              <a:t>नेपालको जग्गा प्रशासनको इतिहास हेर्ने हो भने लिच्छवि काल देखि नै आउनु पर्छ । जयस्थिति मल्लको पालामा भएको व्यवस्था त्यसै गरी राम शाहको पालका व्यवस्था र १९१० को मुलुकी ऐन समेतका ब्यवस्था हेर्दा जग्गाको कुनैन कुनै रुपमा दर्ता भएको देखिन्छ । साविकको अवस्थामा हुकुम आदेश</a:t>
            </a:r>
            <a:r>
              <a:rPr lang="en-US" dirty="0">
                <a:cs typeface="Kalimati" pitchFamily="2"/>
              </a:rPr>
              <a:t>,</a:t>
            </a:r>
            <a:r>
              <a:rPr lang="ne-NP" dirty="0">
                <a:cs typeface="Kalimati" pitchFamily="2"/>
              </a:rPr>
              <a:t> लालमोहर</a:t>
            </a:r>
            <a:r>
              <a:rPr lang="en-US" dirty="0">
                <a:cs typeface="Kalimati" pitchFamily="2"/>
              </a:rPr>
              <a:t>,</a:t>
            </a:r>
            <a:r>
              <a:rPr lang="ne-NP" dirty="0">
                <a:cs typeface="Kalimati" pitchFamily="2"/>
              </a:rPr>
              <a:t> सनद सवाल</a:t>
            </a:r>
            <a:r>
              <a:rPr lang="en-US" dirty="0">
                <a:cs typeface="Kalimati" pitchFamily="2"/>
              </a:rPr>
              <a:t>, </a:t>
            </a:r>
            <a:r>
              <a:rPr lang="ne-NP" dirty="0">
                <a:cs typeface="Kalimati" pitchFamily="2"/>
              </a:rPr>
              <a:t>खडग निसाना</a:t>
            </a:r>
            <a:r>
              <a:rPr lang="en-US" dirty="0">
                <a:cs typeface="Kalimati" pitchFamily="2"/>
              </a:rPr>
              <a:t>,</a:t>
            </a:r>
            <a:r>
              <a:rPr lang="ne-NP" dirty="0">
                <a:cs typeface="Kalimati" pitchFamily="2"/>
              </a:rPr>
              <a:t> इस्तिहारबाट जग्गा आबद गर्न र भोग गर्न पाउने गरी आदेश भएको हुन्थ्यो । त्यो अनुसार जग्गा दर्ता अर्थात रजिष्टर गर्नु पर्ने व्यवस्था रहेको थियो । यी कुराहरु तत्कालीन तालुकीदारहरुको नाउँमा लगत कसिएको हुन्थ्यो ।त्यसरी लगतमा नकसिएका जग्गा सरकारी हुन्थे । </a:t>
            </a:r>
            <a:endParaRPr lang="en-US" dirty="0">
              <a:cs typeface="Kalimati" pitchFamily="2"/>
            </a:endParaRPr>
          </a:p>
          <a:p>
            <a:r>
              <a:rPr lang="ne-NP" dirty="0">
                <a:cs typeface="Kalimati" pitchFamily="2"/>
              </a:rPr>
              <a:t>यी दर्ताको कुरा गर्दा साविक लगतलाई पनि बुझ्नु पर्ने हुन्छ ।  ती लगतमा देहाय बमोजिम रहेका हुन्थेः</a:t>
            </a:r>
            <a:endParaRPr lang="en-US" dirty="0">
              <a:cs typeface="Kalimati" pitchFamily="2"/>
            </a:endParaRPr>
          </a:p>
          <a:p>
            <a:r>
              <a:rPr lang="ne-NP" dirty="0">
                <a:cs typeface="Kalimati" pitchFamily="2"/>
              </a:rPr>
              <a:t>अठसठ्ठा</a:t>
            </a:r>
            <a:r>
              <a:rPr lang="en-US" dirty="0">
                <a:cs typeface="Kalimati" pitchFamily="2"/>
              </a:rPr>
              <a:t>,</a:t>
            </a:r>
            <a:r>
              <a:rPr lang="ne-NP" dirty="0">
                <a:cs typeface="Kalimati" pitchFamily="2"/>
              </a:rPr>
              <a:t> एकहर्पी</a:t>
            </a:r>
            <a:r>
              <a:rPr lang="en-US" dirty="0">
                <a:cs typeface="Kalimati" pitchFamily="2"/>
              </a:rPr>
              <a:t>,</a:t>
            </a:r>
            <a:r>
              <a:rPr lang="ne-NP" dirty="0">
                <a:cs typeface="Kalimati" pitchFamily="2"/>
              </a:rPr>
              <a:t> रैकर</a:t>
            </a:r>
            <a:r>
              <a:rPr lang="en-US" dirty="0">
                <a:cs typeface="Kalimati" pitchFamily="2"/>
              </a:rPr>
              <a:t>,</a:t>
            </a:r>
            <a:r>
              <a:rPr lang="ne-NP" dirty="0">
                <a:cs typeface="Kalimati" pitchFamily="2"/>
              </a:rPr>
              <a:t> बिर्ता</a:t>
            </a:r>
            <a:r>
              <a:rPr lang="en-US" dirty="0">
                <a:cs typeface="Kalimati" pitchFamily="2"/>
              </a:rPr>
              <a:t>,</a:t>
            </a:r>
            <a:r>
              <a:rPr lang="ne-NP" dirty="0">
                <a:cs typeface="Kalimati" pitchFamily="2"/>
              </a:rPr>
              <a:t> गुठी लगत ।</a:t>
            </a:r>
            <a:endParaRPr lang="en-US" dirty="0">
              <a:cs typeface="Kalimati" pitchFamily="2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e-NP" dirty="0" smtClean="0"/>
              <a:t>२.कित्ता नापी पछिको जग्गा दर्ताः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762000"/>
            <a:ext cx="8839200" cy="5867400"/>
          </a:xfrm>
        </p:spPr>
        <p:txBody>
          <a:bodyPr>
            <a:normAutofit fontScale="92500" lnSpcReduction="10000"/>
          </a:bodyPr>
          <a:lstStyle/>
          <a:p>
            <a:r>
              <a:rPr lang="ne-NP" dirty="0" smtClean="0">
                <a:cs typeface="Kalimati" pitchFamily="2"/>
              </a:rPr>
              <a:t>नेपालमा </a:t>
            </a:r>
            <a:r>
              <a:rPr lang="ne-NP" dirty="0">
                <a:cs typeface="Kalimati" pitchFamily="2"/>
              </a:rPr>
              <a:t>नापनक्सा शुरुवात १९६८ साललाई शिर काल मान्नु पर्ने हुन्छ । प्रविधि र जनशक्ति जुनसुकै तह  र किसिमको भए तापनि त्यो अभियान शुरुवाती हो । त्यस पछि कुनै ठाउँमा सेनबाट नापनक्साको काम शुरु भयो । जसरी हुन्छ जग्गाको लगत लिने र पोत असुल गर्ने गरेको पाइन्छ । यो अवस्थामा जग्गा रजिष्टर गरिएको हुन्थ्यो । यसैको आधारमा तालुकीदारी लगत पनि तयार भएको देखिन्छ ।</a:t>
            </a:r>
            <a:endParaRPr lang="en-US" dirty="0">
              <a:cs typeface="Kalimati" pitchFamily="2"/>
            </a:endParaRPr>
          </a:p>
          <a:p>
            <a:r>
              <a:rPr lang="ne-NP" dirty="0">
                <a:cs typeface="Kalimati" pitchFamily="2"/>
              </a:rPr>
              <a:t>जग्गा नापजाँच ऐन २०१९ लागू भए पछि भने जग्गाको आधुनिक ढंगबाट नापनक्सा गरी सरकारी दर्तामा कायम गर्ने गरेको पाइन्छ । खासगरी जग्गा दर्ताका निम्नलिखित प्रक्रियालाई हाम्रा कानूनहरुले समेत व्यवस्थित गरेको पाइन्छ । </a:t>
            </a:r>
            <a:endParaRPr lang="en-US" dirty="0">
              <a:cs typeface="Kalimati" pitchFamily="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90600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ne-NP" b="1" dirty="0" smtClean="0"/>
              <a:t>जग्गा दर्ताका प्रक्रियाः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638800"/>
          </a:xfrm>
        </p:spPr>
        <p:txBody>
          <a:bodyPr>
            <a:normAutofit fontScale="92500" lnSpcReduction="20000"/>
          </a:bodyPr>
          <a:lstStyle/>
          <a:p>
            <a:pPr lvl="0"/>
            <a:r>
              <a:rPr lang="ne-NP" dirty="0" smtClean="0">
                <a:cs typeface="Kalimati" pitchFamily="2"/>
              </a:rPr>
              <a:t>नापी </a:t>
            </a:r>
            <a:r>
              <a:rPr lang="ne-NP" dirty="0">
                <a:cs typeface="Kalimati" pitchFamily="2"/>
              </a:rPr>
              <a:t>गोश्वारा वा नापी कार्यालयले गर्ने जग्गा दर्ता</a:t>
            </a:r>
            <a:r>
              <a:rPr lang="en-US" dirty="0">
                <a:cs typeface="Kalimati" pitchFamily="2"/>
              </a:rPr>
              <a:t>,</a:t>
            </a:r>
            <a:r>
              <a:rPr lang="ne-NP" dirty="0">
                <a:cs typeface="Kalimati" pitchFamily="2"/>
              </a:rPr>
              <a:t> </a:t>
            </a:r>
            <a:endParaRPr lang="en-US" dirty="0">
              <a:cs typeface="Kalimati" pitchFamily="2"/>
            </a:endParaRPr>
          </a:p>
          <a:p>
            <a:pPr lvl="0"/>
            <a:r>
              <a:rPr lang="ne-NP" dirty="0">
                <a:cs typeface="Kalimati" pitchFamily="2"/>
              </a:rPr>
              <a:t>छुट जग्गा दर्ताको रुपमा मालपोत कार्यालय तथा नापी कार्यालयले गर्ने दर्ता</a:t>
            </a:r>
            <a:r>
              <a:rPr lang="en-US" dirty="0">
                <a:cs typeface="Kalimati" pitchFamily="2"/>
              </a:rPr>
              <a:t>,</a:t>
            </a:r>
            <a:r>
              <a:rPr lang="ne-NP" dirty="0">
                <a:cs typeface="Kalimati" pitchFamily="2"/>
              </a:rPr>
              <a:t> </a:t>
            </a:r>
            <a:endParaRPr lang="en-US" dirty="0">
              <a:cs typeface="Kalimati" pitchFamily="2"/>
            </a:endParaRPr>
          </a:p>
          <a:p>
            <a:pPr lvl="0"/>
            <a:r>
              <a:rPr lang="ne-NP" dirty="0">
                <a:cs typeface="Kalimati" pitchFamily="2"/>
              </a:rPr>
              <a:t>हाल आवदी समितिले गर्ने जग्गा दर्ता</a:t>
            </a:r>
            <a:r>
              <a:rPr lang="en-US" dirty="0">
                <a:cs typeface="Kalimati" pitchFamily="2"/>
              </a:rPr>
              <a:t>,</a:t>
            </a:r>
            <a:r>
              <a:rPr lang="ne-NP" dirty="0">
                <a:cs typeface="Kalimati" pitchFamily="2"/>
              </a:rPr>
              <a:t> </a:t>
            </a:r>
            <a:endParaRPr lang="en-US" dirty="0">
              <a:cs typeface="Kalimati" pitchFamily="2"/>
            </a:endParaRPr>
          </a:p>
          <a:p>
            <a:pPr lvl="0"/>
            <a:r>
              <a:rPr lang="ne-NP" dirty="0">
                <a:cs typeface="Kalimati" pitchFamily="2"/>
              </a:rPr>
              <a:t>बसोबास वा भूमिप्रशासन कार्यालयबाट गरिने दर्ता</a:t>
            </a:r>
            <a:r>
              <a:rPr lang="en-US" dirty="0">
                <a:cs typeface="Kalimati" pitchFamily="2"/>
              </a:rPr>
              <a:t>,</a:t>
            </a:r>
            <a:r>
              <a:rPr lang="ne-NP" dirty="0">
                <a:cs typeface="Kalimati" pitchFamily="2"/>
              </a:rPr>
              <a:t>  </a:t>
            </a:r>
            <a:endParaRPr lang="en-US" dirty="0">
              <a:cs typeface="Kalimati" pitchFamily="2"/>
            </a:endParaRPr>
          </a:p>
          <a:p>
            <a:pPr lvl="0"/>
            <a:r>
              <a:rPr lang="ne-NP" dirty="0">
                <a:cs typeface="Kalimati" pitchFamily="2"/>
              </a:rPr>
              <a:t>उच्चस्तरीय बन सुदृढीकरण आयोग वा समितिले गरेको दर्ता</a:t>
            </a:r>
            <a:r>
              <a:rPr lang="en-US" dirty="0">
                <a:cs typeface="Kalimati" pitchFamily="2"/>
              </a:rPr>
              <a:t>,</a:t>
            </a:r>
            <a:r>
              <a:rPr lang="ne-NP" dirty="0">
                <a:cs typeface="Kalimati" pitchFamily="2"/>
              </a:rPr>
              <a:t> </a:t>
            </a:r>
            <a:endParaRPr lang="en-US" dirty="0">
              <a:cs typeface="Kalimati" pitchFamily="2"/>
            </a:endParaRPr>
          </a:p>
          <a:p>
            <a:pPr lvl="0"/>
            <a:r>
              <a:rPr lang="ne-NP" dirty="0">
                <a:cs typeface="Kalimati" pitchFamily="2"/>
              </a:rPr>
              <a:t>सुकुम्बासी आयोग वा बसोबास आयोगले गर्ने जग्गाको दर्ता</a:t>
            </a:r>
            <a:r>
              <a:rPr lang="en-US" dirty="0">
                <a:cs typeface="Kalimati" pitchFamily="2"/>
              </a:rPr>
              <a:t>,</a:t>
            </a:r>
          </a:p>
          <a:p>
            <a:pPr lvl="0"/>
            <a:r>
              <a:rPr lang="ne-NP" dirty="0">
                <a:cs typeface="Kalimati" pitchFamily="2"/>
              </a:rPr>
              <a:t>स्वामित्व परिबर्तन हुंदा गरिने दर्ता लिखत बमोजिम तयार हुने मोठ श्रेस्तामा दर्ता</a:t>
            </a:r>
            <a:r>
              <a:rPr lang="en-US" dirty="0">
                <a:cs typeface="Kalimati" pitchFamily="2"/>
              </a:rPr>
              <a:t>,</a:t>
            </a:r>
          </a:p>
          <a:p>
            <a:pPr lvl="0"/>
            <a:r>
              <a:rPr lang="ne-NP" dirty="0">
                <a:cs typeface="Kalimati" pitchFamily="2"/>
              </a:rPr>
              <a:t>दा.खा.निर्णय बमोजिम गरिने जग्गा दर्ता</a:t>
            </a:r>
            <a:r>
              <a:rPr lang="en-US" dirty="0">
                <a:cs typeface="Kalimati" pitchFamily="2"/>
              </a:rPr>
              <a:t>,</a:t>
            </a:r>
            <a:r>
              <a:rPr lang="ne-NP" dirty="0">
                <a:cs typeface="Kalimati" pitchFamily="2"/>
              </a:rPr>
              <a:t> </a:t>
            </a:r>
            <a:endParaRPr lang="en-US" dirty="0">
              <a:cs typeface="Kalimati" pitchFamily="2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/>
            <a:r>
              <a:rPr lang="ne-NP" sz="3600" b="1" dirty="0" smtClean="0"/>
              <a:t>साविक लगत  अनुसारको क्षेत्रफलः</a:t>
            </a:r>
            <a:r>
              <a:rPr lang="ne-NP" sz="3600" dirty="0" smtClean="0"/>
              <a:t> </a:t>
            </a:r>
            <a:r>
              <a:rPr lang="en-US" sz="3600" dirty="0" smtClean="0"/>
              <a:t/>
            </a:r>
            <a:br>
              <a:rPr lang="en-US" sz="3600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211763"/>
          </a:xfrm>
        </p:spPr>
        <p:txBody>
          <a:bodyPr>
            <a:normAutofit fontScale="85000" lnSpcReduction="10000"/>
          </a:bodyPr>
          <a:lstStyle/>
          <a:p>
            <a:r>
              <a:rPr lang="ne-NP" dirty="0" smtClean="0">
                <a:cs typeface="Kalimati" pitchFamily="2"/>
              </a:rPr>
              <a:t>साविकमा </a:t>
            </a:r>
            <a:r>
              <a:rPr lang="ne-NP" dirty="0">
                <a:cs typeface="Kalimati" pitchFamily="2"/>
              </a:rPr>
              <a:t>क्षेत्रफललाई संकेत गर्दा अहिले जस्तो नगरी निम्न बमोजिम गर्ने प्रचलन थियो । जुन साविक लगतमा अहिले पनि देखिन्छ । </a:t>
            </a:r>
            <a:endParaRPr lang="en-US" dirty="0">
              <a:cs typeface="Kalimati" pitchFamily="2"/>
            </a:endParaRPr>
          </a:p>
          <a:p>
            <a:r>
              <a:rPr lang="ne-NP" i="1" dirty="0">
                <a:cs typeface="Kalimati" pitchFamily="2"/>
              </a:rPr>
              <a:t>रोपनीलाई अंकमा आनालाई छडके धर्का </a:t>
            </a:r>
            <a:r>
              <a:rPr lang="en-US" i="1" dirty="0">
                <a:cs typeface="Kalimati" pitchFamily="2"/>
              </a:rPr>
              <a:t>( /) </a:t>
            </a:r>
            <a:r>
              <a:rPr lang="ne-NP" i="1" dirty="0">
                <a:cs typeface="Kalimati" pitchFamily="2"/>
              </a:rPr>
              <a:t>बाट पैसालई सिधा धर्का </a:t>
            </a:r>
            <a:r>
              <a:rPr lang="en-US" i="1" dirty="0">
                <a:cs typeface="Kalimati" pitchFamily="2"/>
              </a:rPr>
              <a:t>( </a:t>
            </a:r>
            <a:r>
              <a:rPr lang="ne-NP" i="1" dirty="0">
                <a:cs typeface="Kalimati" pitchFamily="2"/>
              </a:rPr>
              <a:t>।</a:t>
            </a:r>
            <a:r>
              <a:rPr lang="en-US" i="1" dirty="0">
                <a:cs typeface="Kalimati" pitchFamily="2"/>
              </a:rPr>
              <a:t>)</a:t>
            </a:r>
            <a:r>
              <a:rPr lang="ne-NP" i="1" dirty="0">
                <a:cs typeface="Kalimati" pitchFamily="2"/>
              </a:rPr>
              <a:t>बाट र दामलाई अंकमा लेखिन्थ्यो ।</a:t>
            </a:r>
            <a:r>
              <a:rPr lang="ne-NP" dirty="0">
                <a:cs typeface="Kalimati" pitchFamily="2"/>
              </a:rPr>
              <a:t> </a:t>
            </a:r>
            <a:endParaRPr lang="en-US" dirty="0">
              <a:cs typeface="Kalimati" pitchFamily="2"/>
            </a:endParaRPr>
          </a:p>
          <a:p>
            <a:r>
              <a:rPr lang="ne-NP" i="1" dirty="0">
                <a:cs typeface="Kalimati" pitchFamily="2"/>
              </a:rPr>
              <a:t>जस्तै १-१२-३-१ </a:t>
            </a:r>
            <a:r>
              <a:rPr lang="ne-NP" dirty="0">
                <a:cs typeface="Kalimati" pitchFamily="2"/>
              </a:rPr>
              <a:t>लेख्दा १///।।।१ </a:t>
            </a:r>
            <a:endParaRPr lang="en-US" dirty="0">
              <a:cs typeface="Kalimati" pitchFamily="2"/>
            </a:endParaRPr>
          </a:p>
          <a:p>
            <a:r>
              <a:rPr lang="ne-NP" dirty="0">
                <a:cs typeface="Kalimati" pitchFamily="2"/>
              </a:rPr>
              <a:t>१२ आना = ///</a:t>
            </a:r>
            <a:r>
              <a:rPr lang="cy-GB" dirty="0">
                <a:cs typeface="Kalimati" pitchFamily="2"/>
              </a:rPr>
              <a:t>S </a:t>
            </a:r>
            <a:endParaRPr lang="en-US" dirty="0">
              <a:cs typeface="Kalimati" pitchFamily="2"/>
            </a:endParaRPr>
          </a:p>
          <a:p>
            <a:r>
              <a:rPr lang="ne-NP" dirty="0">
                <a:cs typeface="Kalimati" pitchFamily="2"/>
              </a:rPr>
              <a:t>५ आना = /</a:t>
            </a:r>
            <a:r>
              <a:rPr lang="cy-GB" dirty="0">
                <a:cs typeface="Kalimati" pitchFamily="2"/>
              </a:rPr>
              <a:t>¯ </a:t>
            </a:r>
            <a:endParaRPr lang="en-US" dirty="0">
              <a:cs typeface="Kalimati" pitchFamily="2"/>
            </a:endParaRPr>
          </a:p>
          <a:p>
            <a:r>
              <a:rPr lang="ne-NP" dirty="0">
                <a:cs typeface="Kalimati" pitchFamily="2"/>
              </a:rPr>
              <a:t>१३ आना = ///</a:t>
            </a:r>
            <a:r>
              <a:rPr lang="cy-GB" dirty="0">
                <a:cs typeface="Kalimati" pitchFamily="2"/>
              </a:rPr>
              <a:t>¯ </a:t>
            </a:r>
            <a:endParaRPr lang="en-US" dirty="0">
              <a:cs typeface="Kalimati" pitchFamily="2"/>
            </a:endParaRPr>
          </a:p>
          <a:p>
            <a:r>
              <a:rPr lang="ne-NP" dirty="0">
                <a:cs typeface="Kalimati" pitchFamily="2"/>
              </a:rPr>
              <a:t>६ आना = /² </a:t>
            </a:r>
            <a:endParaRPr lang="en-US" dirty="0">
              <a:cs typeface="Kalimati" pitchFamily="2"/>
            </a:endParaRPr>
          </a:p>
          <a:p>
            <a:r>
              <a:rPr lang="ne-NP" dirty="0">
                <a:cs typeface="Kalimati" pitchFamily="2"/>
              </a:rPr>
              <a:t>०-१-१०</a:t>
            </a:r>
            <a:r>
              <a:rPr lang="en-US" dirty="0">
                <a:cs typeface="Kalimati" pitchFamily="2"/>
              </a:rPr>
              <a:t>=    s</a:t>
            </a:r>
            <a:r>
              <a:rPr lang="ne-NP" dirty="0">
                <a:cs typeface="Kalimati" pitchFamily="2"/>
              </a:rPr>
              <a:t>१// एक कठ्ठा १० धुर </a:t>
            </a:r>
            <a:endParaRPr lang="en-US" dirty="0">
              <a:cs typeface="Kalimati" pitchFamily="2"/>
            </a:endParaRPr>
          </a:p>
          <a:p>
            <a:r>
              <a:rPr lang="ne-NP" dirty="0">
                <a:cs typeface="Kalimati" pitchFamily="2"/>
              </a:rPr>
              <a:t>१-१० </a:t>
            </a:r>
            <a:r>
              <a:rPr lang="en-US" dirty="0">
                <a:cs typeface="Kalimati" pitchFamily="2"/>
              </a:rPr>
              <a:t>=</a:t>
            </a:r>
            <a:r>
              <a:rPr lang="ne-NP" dirty="0">
                <a:cs typeface="Kalimati" pitchFamily="2"/>
              </a:rPr>
              <a:t>१</a:t>
            </a:r>
            <a:r>
              <a:rPr lang="en-US" dirty="0">
                <a:cs typeface="Kalimati" pitchFamily="2"/>
              </a:rPr>
              <a:t>s</a:t>
            </a:r>
            <a:r>
              <a:rPr lang="ne-NP" dirty="0">
                <a:cs typeface="Kalimati" pitchFamily="2"/>
              </a:rPr>
              <a:t>//२   एक रोपनी १० आना </a:t>
            </a:r>
            <a:endParaRPr lang="en-US" dirty="0">
              <a:cs typeface="Kalimati" pitchFamily="2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e-NP" dirty="0" smtClean="0"/>
              <a:t>भाग-२</a:t>
            </a:r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e-NP" b="1" u="sng" dirty="0" smtClean="0"/>
              <a:t>७</a:t>
            </a:r>
            <a:r>
              <a:rPr lang="ne-NP" b="1" dirty="0" smtClean="0"/>
              <a:t>.</a:t>
            </a:r>
            <a:r>
              <a:rPr lang="ne-NP" b="1" u="sng" dirty="0" smtClean="0"/>
              <a:t>जग्गामा मोहियानी व्यवस्था र हदबन्दी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19200"/>
            <a:ext cx="8915400" cy="5410200"/>
          </a:xfrm>
        </p:spPr>
        <p:txBody>
          <a:bodyPr>
            <a:normAutofit/>
          </a:bodyPr>
          <a:lstStyle/>
          <a:p>
            <a:r>
              <a:rPr lang="ne-NP" dirty="0" smtClean="0">
                <a:cs typeface="Kalimati" pitchFamily="2"/>
              </a:rPr>
              <a:t>साविक लगतको आधारमा जग्गा प्रशासन चल्दा जग्गा धनीको रुपमा सरकारबाट नियुक्त तालुकदार रहन्थे भने जग्गा कमाउनेलाई मोही वा रैति वा प्रजा भनी उल्लेख भएको पाइन्छ । तर भूमिसम्बन्धी ऐन २०२१ आए पछि जग्गावाला र मोहीको स्वामित्व कायम हुने गरी व्यवस्था भयो । नाप नक्सा भएका जग्गाहरुमा फिल्डबुकमा समेत सो व्यहोरा चढन गयो । दर्ता बाँकी जग्गामा पनि  कैफियत महलमा मोहीले लेखाएको व्यहोरालाई आधार मानी छुट जग्गादर्ताको काम कार्बाही अगाडि बढाइयो ।</a:t>
            </a:r>
            <a:endParaRPr lang="en-US" dirty="0" smtClean="0">
              <a:cs typeface="Kalimati" pitchFamily="2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8600"/>
            <a:ext cx="8229600" cy="6400800"/>
          </a:xfrm>
        </p:spPr>
        <p:txBody>
          <a:bodyPr>
            <a:normAutofit/>
          </a:bodyPr>
          <a:lstStyle/>
          <a:p>
            <a:r>
              <a:rPr lang="ne-NP" dirty="0">
                <a:cs typeface="Kalimati" pitchFamily="2"/>
              </a:rPr>
              <a:t>यसरी जग्गामा द्धैद्ध स्वामित्व कायम हुन गएको देखिन्छ । भूमि सम्बन्धी ऐन २०२१ मा मिति २०५३।९।२४ मा भएको चौथो संशोधनले जग्गामा जग्गावाला र मोहीको बरावरी स्वामित्व रहने र त्यस्तो जग्गा ऐनको दफा २६ बमोजिम बाँडफाड गर्ने व्यवस्था गरियो । यस अनुसार अव जग्गामा दोहोरो स्वामित्व रहन सक्दैन । </a:t>
            </a:r>
            <a:endParaRPr lang="en-US" dirty="0">
              <a:cs typeface="Kalimati" pitchFamily="2"/>
            </a:endParaRPr>
          </a:p>
          <a:p>
            <a:r>
              <a:rPr lang="ne-NP" dirty="0">
                <a:cs typeface="Kalimati" pitchFamily="2"/>
              </a:rPr>
              <a:t>मोही र जग्गा धनी वीचको जग्गाको बाँडफाड नेपाल सरकारले नेपाल राजपत्रमा सूचना प्रकाशित गरी तोके बमोजिमको  म्याद भित्र बाँडफाड गर्न पाउने व्यवस्था रहेको छ । </a:t>
            </a:r>
            <a:endParaRPr lang="en-US" dirty="0">
              <a:cs typeface="Kalimati" pitchFamily="2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e-NP" sz="3600" b="1" dirty="0" smtClean="0"/>
              <a:t>८.हदबन्दी सम्बन्धीः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458200" cy="5715000"/>
          </a:xfrm>
        </p:spPr>
        <p:txBody>
          <a:bodyPr>
            <a:noAutofit/>
          </a:bodyPr>
          <a:lstStyle/>
          <a:p>
            <a:pPr lvl="0"/>
            <a:r>
              <a:rPr lang="en-US" sz="2000" dirty="0" err="1" smtClean="0">
                <a:latin typeface="Preeti" pitchFamily="2" charset="0"/>
              </a:rPr>
              <a:t>S'g</a:t>
            </a:r>
            <a:r>
              <a:rPr lang="en-US" sz="2000" dirty="0">
                <a:latin typeface="Preeti" pitchFamily="2" charset="0"/>
              </a:rPr>
              <a:t>} </a:t>
            </a:r>
            <a:r>
              <a:rPr lang="en-US" sz="2000" dirty="0" err="1">
                <a:latin typeface="Preeti" pitchFamily="2" charset="0"/>
              </a:rPr>
              <a:t>JolStm</a:t>
            </a:r>
            <a:r>
              <a:rPr lang="en-US" sz="2000" dirty="0">
                <a:latin typeface="Preeti" pitchFamily="2" charset="0"/>
              </a:rPr>
              <a:t> </a:t>
            </a:r>
            <a:r>
              <a:rPr lang="en-US" sz="2000" dirty="0" err="1">
                <a:latin typeface="Preeti" pitchFamily="2" charset="0"/>
              </a:rPr>
              <a:t>jf</a:t>
            </a:r>
            <a:r>
              <a:rPr lang="en-US" sz="2000" dirty="0">
                <a:latin typeface="Preeti" pitchFamily="2" charset="0"/>
              </a:rPr>
              <a:t> </a:t>
            </a:r>
            <a:r>
              <a:rPr lang="en-US" sz="2000" dirty="0" err="1">
                <a:latin typeface="Preeti" pitchFamily="2" charset="0"/>
              </a:rPr>
              <a:t>lghsf</a:t>
            </a:r>
            <a:r>
              <a:rPr lang="en-US" sz="2000" dirty="0">
                <a:latin typeface="Preeti" pitchFamily="2" charset="0"/>
              </a:rPr>
              <a:t>] </a:t>
            </a:r>
            <a:r>
              <a:rPr lang="en-US" sz="2000" dirty="0" err="1">
                <a:latin typeface="Preeti" pitchFamily="2" charset="0"/>
              </a:rPr>
              <a:t>kl</a:t>
            </a:r>
            <a:r>
              <a:rPr lang="en-US" sz="2000" dirty="0">
                <a:latin typeface="Preeti" pitchFamily="2" charset="0"/>
              </a:rPr>
              <a:t>/</a:t>
            </a:r>
            <a:r>
              <a:rPr lang="en-US" sz="2000" dirty="0" err="1">
                <a:latin typeface="Preeti" pitchFamily="2" charset="0"/>
              </a:rPr>
              <a:t>jf</a:t>
            </a:r>
            <a:r>
              <a:rPr lang="en-US" sz="2000" dirty="0">
                <a:latin typeface="Preeti" pitchFamily="2" charset="0"/>
              </a:rPr>
              <a:t>/n] </a:t>
            </a:r>
            <a:r>
              <a:rPr lang="en-US" sz="2000" dirty="0" err="1">
                <a:latin typeface="Preeti" pitchFamily="2" charset="0"/>
              </a:rPr>
              <a:t>hUufjfnfsf</a:t>
            </a:r>
            <a:r>
              <a:rPr lang="en-US" sz="2000" dirty="0">
                <a:latin typeface="Preeti" pitchFamily="2" charset="0"/>
              </a:rPr>
              <a:t>] x}</a:t>
            </a:r>
            <a:r>
              <a:rPr lang="en-US" sz="2000" dirty="0" err="1">
                <a:latin typeface="Preeti" pitchFamily="2" charset="0"/>
              </a:rPr>
              <a:t>l;otn</a:t>
            </a:r>
            <a:r>
              <a:rPr lang="en-US" sz="2000" dirty="0">
                <a:latin typeface="Preeti" pitchFamily="2" charset="0"/>
              </a:rPr>
              <a:t>] g]</a:t>
            </a:r>
            <a:r>
              <a:rPr lang="en-US" sz="2000" dirty="0" err="1">
                <a:latin typeface="Preeti" pitchFamily="2" charset="0"/>
              </a:rPr>
              <a:t>kfndf</a:t>
            </a:r>
            <a:r>
              <a:rPr lang="en-US" sz="2000" dirty="0">
                <a:latin typeface="Preeti" pitchFamily="2" charset="0"/>
              </a:rPr>
              <a:t> !) </a:t>
            </a:r>
            <a:r>
              <a:rPr lang="en-US" sz="2000" dirty="0" err="1">
                <a:latin typeface="Preeti" pitchFamily="2" charset="0"/>
              </a:rPr>
              <a:t>ljufxfdf</a:t>
            </a:r>
            <a:r>
              <a:rPr lang="en-US" sz="2000" dirty="0">
                <a:latin typeface="Preeti" pitchFamily="2" charset="0"/>
              </a:rPr>
              <a:t> ga9g] u/L  b]</a:t>
            </a:r>
            <a:r>
              <a:rPr lang="en-US" sz="2000" dirty="0" err="1">
                <a:latin typeface="Preeti" pitchFamily="2" charset="0"/>
              </a:rPr>
              <a:t>xfosf</a:t>
            </a:r>
            <a:r>
              <a:rPr lang="en-US" sz="2000" dirty="0">
                <a:latin typeface="Preeti" pitchFamily="2" charset="0"/>
              </a:rPr>
              <a:t>] I]</a:t>
            </a:r>
            <a:r>
              <a:rPr lang="en-US" sz="2000" dirty="0" err="1">
                <a:latin typeface="Preeti" pitchFamily="2" charset="0"/>
              </a:rPr>
              <a:t>fqdf</a:t>
            </a:r>
            <a:r>
              <a:rPr lang="en-US" sz="2000" dirty="0">
                <a:latin typeface="Preeti" pitchFamily="2" charset="0"/>
              </a:rPr>
              <a:t> b]</a:t>
            </a:r>
            <a:r>
              <a:rPr lang="en-US" sz="2000" dirty="0" err="1">
                <a:latin typeface="Preeti" pitchFamily="2" charset="0"/>
              </a:rPr>
              <a:t>xfosf</a:t>
            </a:r>
            <a:r>
              <a:rPr lang="en-US" sz="2000" dirty="0">
                <a:latin typeface="Preeti" pitchFamily="2" charset="0"/>
              </a:rPr>
              <a:t>] </a:t>
            </a:r>
            <a:r>
              <a:rPr lang="en-US" sz="2000" dirty="0" err="1">
                <a:latin typeface="Preeti" pitchFamily="2" charset="0"/>
              </a:rPr>
              <a:t>xb;Dd</a:t>
            </a:r>
            <a:r>
              <a:rPr lang="en-US" sz="2000" dirty="0">
                <a:latin typeface="Preeti" pitchFamily="2" charset="0"/>
              </a:rPr>
              <a:t> </a:t>
            </a:r>
            <a:r>
              <a:rPr lang="en-US" sz="2000" dirty="0" err="1">
                <a:latin typeface="Preeti" pitchFamily="2" charset="0"/>
              </a:rPr>
              <a:t>dfq</a:t>
            </a:r>
            <a:r>
              <a:rPr lang="en-US" sz="2000" dirty="0">
                <a:latin typeface="Preeti" pitchFamily="2" charset="0"/>
              </a:rPr>
              <a:t> </a:t>
            </a:r>
            <a:r>
              <a:rPr lang="en-US" sz="2000" dirty="0" err="1">
                <a:latin typeface="Preeti" pitchFamily="2" charset="0"/>
              </a:rPr>
              <a:t>hUuf</a:t>
            </a:r>
            <a:r>
              <a:rPr lang="en-US" sz="2000" dirty="0">
                <a:latin typeface="Preeti" pitchFamily="2" charset="0"/>
              </a:rPr>
              <a:t> /</a:t>
            </a:r>
            <a:r>
              <a:rPr lang="en-US" sz="2000" dirty="0" err="1">
                <a:latin typeface="Preeti" pitchFamily="2" charset="0"/>
              </a:rPr>
              <a:t>fVg</a:t>
            </a:r>
            <a:r>
              <a:rPr lang="en-US" sz="2000" dirty="0">
                <a:latin typeface="Preeti" pitchFamily="2" charset="0"/>
              </a:rPr>
              <a:t> </a:t>
            </a:r>
            <a:r>
              <a:rPr lang="en-US" sz="2000" dirty="0" err="1">
                <a:latin typeface="Preeti" pitchFamily="2" charset="0"/>
              </a:rPr>
              <a:t>kfpg</a:t>
            </a:r>
            <a:r>
              <a:rPr lang="en-US" sz="2000" dirty="0">
                <a:latin typeface="Preeti" pitchFamily="2" charset="0"/>
              </a:rPr>
              <a:t>] </a:t>
            </a:r>
            <a:r>
              <a:rPr lang="en-US" sz="2000" dirty="0" err="1">
                <a:latin typeface="Preeti" pitchFamily="2" charset="0"/>
              </a:rPr>
              <a:t>Joj:yf</a:t>
            </a:r>
            <a:r>
              <a:rPr lang="en-US" sz="2000" dirty="0">
                <a:latin typeface="Preeti" pitchFamily="2" charset="0"/>
              </a:rPr>
              <a:t> </a:t>
            </a:r>
            <a:r>
              <a:rPr lang="en-US" sz="2000" dirty="0" err="1">
                <a:latin typeface="Preeti" pitchFamily="2" charset="0"/>
              </a:rPr>
              <a:t>e"ld;DaGwL</a:t>
            </a:r>
            <a:r>
              <a:rPr lang="en-US" sz="2000" dirty="0">
                <a:latin typeface="Preeti" pitchFamily="2" charset="0"/>
              </a:rPr>
              <a:t> P]g @)@! </a:t>
            </a:r>
            <a:r>
              <a:rPr lang="en-US" sz="2000" dirty="0" err="1">
                <a:latin typeface="Preeti" pitchFamily="2" charset="0"/>
              </a:rPr>
              <a:t>sf</a:t>
            </a:r>
            <a:r>
              <a:rPr lang="en-US" sz="2000" dirty="0">
                <a:latin typeface="Preeti" pitchFamily="2" charset="0"/>
              </a:rPr>
              <a:t>] </a:t>
            </a:r>
            <a:r>
              <a:rPr lang="en-US" sz="2000" dirty="0" err="1">
                <a:latin typeface="Preeti" pitchFamily="2" charset="0"/>
              </a:rPr>
              <a:t>bkmf</a:t>
            </a:r>
            <a:r>
              <a:rPr lang="en-US" sz="2000" dirty="0">
                <a:latin typeface="Preeti" pitchFamily="2" charset="0"/>
              </a:rPr>
              <a:t> &amp; / * </a:t>
            </a:r>
            <a:r>
              <a:rPr lang="en-US" sz="2000" dirty="0" err="1">
                <a:latin typeface="Preeti" pitchFamily="2" charset="0"/>
              </a:rPr>
              <a:t>df</a:t>
            </a:r>
            <a:r>
              <a:rPr lang="en-US" sz="2000" dirty="0">
                <a:latin typeface="Preeti" pitchFamily="2" charset="0"/>
              </a:rPr>
              <a:t>  </a:t>
            </a:r>
            <a:r>
              <a:rPr lang="en-US" sz="2000" dirty="0" err="1">
                <a:latin typeface="Preeti" pitchFamily="2" charset="0"/>
              </a:rPr>
              <a:t>ul</a:t>
            </a:r>
            <a:r>
              <a:rPr lang="en-US" sz="2000" dirty="0">
                <a:latin typeface="Preeti" pitchFamily="2" charset="0"/>
              </a:rPr>
              <a:t>/</a:t>
            </a:r>
            <a:r>
              <a:rPr lang="en-US" sz="2000" dirty="0" err="1">
                <a:latin typeface="Preeti" pitchFamily="2" charset="0"/>
              </a:rPr>
              <a:t>Psf</a:t>
            </a:r>
            <a:r>
              <a:rPr lang="en-US" sz="2000" dirty="0">
                <a:latin typeface="Preeti" pitchFamily="2" charset="0"/>
              </a:rPr>
              <a:t>] 5 . </a:t>
            </a:r>
          </a:p>
          <a:p>
            <a:pPr lvl="0">
              <a:buNone/>
            </a:pPr>
            <a:r>
              <a:rPr lang="en-US" sz="2000" dirty="0">
                <a:latin typeface="Preeti" pitchFamily="2" charset="0"/>
              </a:rPr>
              <a:t> </a:t>
            </a:r>
          </a:p>
          <a:p>
            <a:pPr lvl="0">
              <a:buNone/>
            </a:pPr>
            <a:r>
              <a:rPr lang="en-US" sz="2000" dirty="0">
                <a:latin typeface="Preeti" pitchFamily="2" charset="0"/>
              </a:rPr>
              <a:t>			</a:t>
            </a:r>
            <a:r>
              <a:rPr lang="en-US" sz="2000" b="1" dirty="0">
                <a:latin typeface="Preeti" pitchFamily="2" charset="0"/>
              </a:rPr>
              <a:t>@)%*</a:t>
            </a:r>
            <a:r>
              <a:rPr lang="ne-NP" sz="2000" b="1" dirty="0">
                <a:latin typeface="Preeti" pitchFamily="2" charset="0"/>
              </a:rPr>
              <a:t> </a:t>
            </a:r>
            <a:r>
              <a:rPr lang="en-US" sz="2000" b="1" dirty="0" err="1">
                <a:latin typeface="Preeti" pitchFamily="2" charset="0"/>
              </a:rPr>
              <a:t>sf</a:t>
            </a:r>
            <a:r>
              <a:rPr lang="en-US" sz="2000" b="1" dirty="0">
                <a:latin typeface="Preeti" pitchFamily="2" charset="0"/>
              </a:rPr>
              <a:t>] </a:t>
            </a:r>
            <a:r>
              <a:rPr lang="en-US" sz="2000" b="1" dirty="0" err="1">
                <a:latin typeface="Preeti" pitchFamily="2" charset="0"/>
              </a:rPr>
              <a:t>xbaGbL</a:t>
            </a:r>
            <a:r>
              <a:rPr lang="en-US" sz="2000" b="1" dirty="0">
                <a:latin typeface="Preeti" pitchFamily="2" charset="0"/>
              </a:rPr>
              <a:t> 	       @)@! </a:t>
            </a:r>
            <a:r>
              <a:rPr lang="en-US" sz="2000" b="1" dirty="0" err="1" smtClean="0">
                <a:latin typeface="Preeti" pitchFamily="2" charset="0"/>
              </a:rPr>
              <a:t>sf</a:t>
            </a:r>
            <a:r>
              <a:rPr lang="en-US" sz="2000" b="1" dirty="0" smtClean="0">
                <a:latin typeface="Preeti" pitchFamily="2" charset="0"/>
              </a:rPr>
              <a:t>]</a:t>
            </a:r>
            <a:r>
              <a:rPr lang="en-US" sz="2000" b="1" dirty="0" err="1" smtClean="0">
                <a:latin typeface="Preeti" pitchFamily="2" charset="0"/>
              </a:rPr>
              <a:t>xbaGbL</a:t>
            </a:r>
            <a:r>
              <a:rPr lang="en-US" sz="2000" b="1" dirty="0" smtClean="0">
                <a:latin typeface="Preeti" pitchFamily="2" charset="0"/>
              </a:rPr>
              <a:t>           </a:t>
            </a:r>
            <a:r>
              <a:rPr lang="ne-NP" sz="2000" b="1" dirty="0" smtClean="0">
                <a:latin typeface="Preeti" pitchFamily="2" charset="0"/>
              </a:rPr>
              <a:t>     </a:t>
            </a:r>
            <a:r>
              <a:rPr lang="en-US" sz="2000" b="1" dirty="0" err="1" smtClean="0">
                <a:latin typeface="Preeti" pitchFamily="2" charset="0"/>
              </a:rPr>
              <a:t>df</a:t>
            </a:r>
            <a:r>
              <a:rPr lang="en-US" sz="2000" b="1" dirty="0" smtClean="0">
                <a:latin typeface="Preeti" pitchFamily="2" charset="0"/>
              </a:rPr>
              <a:t>]</a:t>
            </a:r>
            <a:r>
              <a:rPr lang="en-US" sz="2000" b="1" dirty="0" err="1" smtClean="0">
                <a:latin typeface="Preeti" pitchFamily="2" charset="0"/>
              </a:rPr>
              <a:t>xLn</a:t>
            </a:r>
            <a:r>
              <a:rPr lang="en-US" sz="2000" b="1" dirty="0">
                <a:latin typeface="Preeti" pitchFamily="2" charset="0"/>
              </a:rPr>
              <a:t>] /</a:t>
            </a:r>
            <a:r>
              <a:rPr lang="en-US" sz="2000" b="1" dirty="0" err="1">
                <a:latin typeface="Preeti" pitchFamily="2" charset="0"/>
              </a:rPr>
              <a:t>fVg</a:t>
            </a:r>
            <a:endParaRPr lang="en-US" sz="2000" dirty="0">
              <a:latin typeface="Preeti" pitchFamily="2" charset="0"/>
            </a:endParaRPr>
          </a:p>
          <a:p>
            <a:pPr lvl="0"/>
            <a:r>
              <a:rPr lang="en-US" sz="2000" b="1" dirty="0">
                <a:latin typeface="Preeti" pitchFamily="2" charset="0"/>
              </a:rPr>
              <a:t>				                                          </a:t>
            </a:r>
            <a:r>
              <a:rPr lang="en-US" sz="2000" b="1" dirty="0" err="1" smtClean="0">
                <a:latin typeface="Preeti" pitchFamily="2" charset="0"/>
              </a:rPr>
              <a:t>kfpg</a:t>
            </a:r>
            <a:r>
              <a:rPr lang="en-US" sz="2000" b="1" dirty="0">
                <a:latin typeface="Preeti" pitchFamily="2" charset="0"/>
              </a:rPr>
              <a:t>] </a:t>
            </a:r>
            <a:r>
              <a:rPr lang="en-US" sz="2000" b="1" dirty="0" err="1">
                <a:latin typeface="Preeti" pitchFamily="2" charset="0"/>
              </a:rPr>
              <a:t>xb</a:t>
            </a:r>
            <a:endParaRPr lang="en-US" sz="2000" dirty="0">
              <a:latin typeface="Preeti" pitchFamily="2" charset="0"/>
            </a:endParaRPr>
          </a:p>
          <a:p>
            <a:pPr lvl="0"/>
            <a:r>
              <a:rPr lang="en-US" sz="2000" dirty="0">
                <a:latin typeface="Preeti" pitchFamily="2" charset="0"/>
              </a:rPr>
              <a:t> </a:t>
            </a:r>
          </a:p>
          <a:p>
            <a:pPr lvl="0"/>
            <a:r>
              <a:rPr lang="en-US" sz="2000" dirty="0">
                <a:latin typeface="Preeti" pitchFamily="2" charset="0"/>
              </a:rPr>
              <a:t>!_ </a:t>
            </a:r>
            <a:r>
              <a:rPr lang="en-US" sz="2000" dirty="0" err="1">
                <a:latin typeface="Preeti" pitchFamily="2" charset="0"/>
              </a:rPr>
              <a:t>leqL</a:t>
            </a:r>
            <a:r>
              <a:rPr lang="en-US" sz="2000" dirty="0">
                <a:latin typeface="Preeti" pitchFamily="2" charset="0"/>
              </a:rPr>
              <a:t> </a:t>
            </a:r>
            <a:r>
              <a:rPr lang="en-US" sz="2000" dirty="0" err="1">
                <a:latin typeface="Preeti" pitchFamily="2" charset="0"/>
              </a:rPr>
              <a:t>dw</a:t>
            </a:r>
            <a:r>
              <a:rPr lang="en-US" sz="2000" dirty="0">
                <a:latin typeface="Preeti" pitchFamily="2" charset="0"/>
              </a:rPr>
              <a:t>]z ;d]t ;Dk"0f{	</a:t>
            </a:r>
          </a:p>
          <a:p>
            <a:pPr lvl="0"/>
            <a:r>
              <a:rPr lang="en-US" sz="2000" dirty="0">
                <a:latin typeface="Preeti" pitchFamily="2" charset="0"/>
              </a:rPr>
              <a:t>       t/</a:t>
            </a:r>
            <a:r>
              <a:rPr lang="en-US" sz="2000" dirty="0" err="1">
                <a:latin typeface="Preeti" pitchFamily="2" charset="0"/>
              </a:rPr>
              <a:t>fO</a:t>
            </a:r>
            <a:r>
              <a:rPr lang="en-US" sz="2000" dirty="0">
                <a:latin typeface="Preeti" pitchFamily="2" charset="0"/>
              </a:rPr>
              <a:t>{ If]</a:t>
            </a:r>
            <a:r>
              <a:rPr lang="en-US" sz="2000" dirty="0" err="1">
                <a:latin typeface="Preeti" pitchFamily="2" charset="0"/>
              </a:rPr>
              <a:t>qdf</a:t>
            </a:r>
            <a:r>
              <a:rPr lang="en-US" sz="2000" dirty="0">
                <a:latin typeface="Preeti" pitchFamily="2" charset="0"/>
              </a:rPr>
              <a:t>	 	 !) </a:t>
            </a:r>
            <a:r>
              <a:rPr lang="en-US" sz="2000" dirty="0" err="1">
                <a:latin typeface="Preeti" pitchFamily="2" charset="0"/>
              </a:rPr>
              <a:t>tyf</a:t>
            </a:r>
            <a:r>
              <a:rPr lang="en-US" sz="2000" dirty="0">
                <a:latin typeface="Preeti" pitchFamily="2" charset="0"/>
              </a:rPr>
              <a:t> ! </a:t>
            </a:r>
            <a:r>
              <a:rPr lang="en-US" sz="2000" dirty="0" err="1">
                <a:latin typeface="Preeti" pitchFamily="2" charset="0"/>
              </a:rPr>
              <a:t>ljufxf</a:t>
            </a:r>
            <a:r>
              <a:rPr lang="en-US" sz="2000" dirty="0">
                <a:latin typeface="Preeti" pitchFamily="2" charset="0"/>
              </a:rPr>
              <a:t>    </a:t>
            </a:r>
            <a:r>
              <a:rPr lang="ne-NP" sz="2000" dirty="0">
                <a:latin typeface="Preeti" pitchFamily="2" charset="0"/>
              </a:rPr>
              <a:t> </a:t>
            </a:r>
            <a:r>
              <a:rPr lang="en-US" sz="2000" dirty="0">
                <a:latin typeface="Preeti" pitchFamily="2" charset="0"/>
              </a:rPr>
              <a:t>  </a:t>
            </a:r>
            <a:r>
              <a:rPr lang="en-US" sz="2000" dirty="0" smtClean="0">
                <a:latin typeface="Preeti" pitchFamily="2" charset="0"/>
              </a:rPr>
              <a:t> @% </a:t>
            </a:r>
            <a:r>
              <a:rPr lang="en-US" sz="2000" dirty="0" err="1">
                <a:latin typeface="Preeti" pitchFamily="2" charset="0"/>
              </a:rPr>
              <a:t>tyf</a:t>
            </a:r>
            <a:r>
              <a:rPr lang="en-US" sz="2000" dirty="0">
                <a:latin typeface="Preeti" pitchFamily="2" charset="0"/>
              </a:rPr>
              <a:t> # </a:t>
            </a:r>
            <a:r>
              <a:rPr lang="en-US" sz="2000" dirty="0" err="1">
                <a:latin typeface="Preeti" pitchFamily="2" charset="0"/>
              </a:rPr>
              <a:t>ljufxf</a:t>
            </a:r>
            <a:r>
              <a:rPr lang="en-US" sz="2000" dirty="0">
                <a:latin typeface="Preeti" pitchFamily="2" charset="0"/>
              </a:rPr>
              <a:t>	           </a:t>
            </a:r>
            <a:r>
              <a:rPr lang="en-US" sz="2000" dirty="0" smtClean="0">
                <a:latin typeface="Preeti" pitchFamily="2" charset="0"/>
              </a:rPr>
              <a:t>$ </a:t>
            </a:r>
            <a:r>
              <a:rPr lang="en-US" sz="2000" dirty="0" err="1">
                <a:latin typeface="Preeti" pitchFamily="2" charset="0"/>
              </a:rPr>
              <a:t>lj</a:t>
            </a:r>
            <a:r>
              <a:rPr lang="en-US" sz="2000" dirty="0">
                <a:latin typeface="Preeti" pitchFamily="2" charset="0"/>
              </a:rPr>
              <a:t>  ==</a:t>
            </a:r>
          </a:p>
          <a:p>
            <a:pPr lvl="0"/>
            <a:r>
              <a:rPr lang="en-US" sz="2000" dirty="0">
                <a:latin typeface="Preeti" pitchFamily="2" charset="0"/>
              </a:rPr>
              <a:t>   </a:t>
            </a:r>
          </a:p>
          <a:p>
            <a:pPr lvl="0"/>
            <a:r>
              <a:rPr lang="en-US" sz="2000" dirty="0">
                <a:latin typeface="Preeti" pitchFamily="2" charset="0"/>
              </a:rPr>
              <a:t>@_ sf7df08f} </a:t>
            </a:r>
            <a:r>
              <a:rPr lang="en-US" sz="2000" dirty="0" err="1">
                <a:latin typeface="Preeti" pitchFamily="2" charset="0"/>
              </a:rPr>
              <a:t>pkTosfdf</a:t>
            </a:r>
            <a:r>
              <a:rPr lang="en-US" sz="2000" dirty="0">
                <a:latin typeface="Preeti" pitchFamily="2" charset="0"/>
              </a:rPr>
              <a:t>	 @% </a:t>
            </a:r>
            <a:r>
              <a:rPr lang="en-US" sz="2000" dirty="0" err="1">
                <a:latin typeface="Preeti" pitchFamily="2" charset="0"/>
              </a:rPr>
              <a:t>tyf</a:t>
            </a:r>
            <a:r>
              <a:rPr lang="en-US" sz="2000" dirty="0">
                <a:latin typeface="Preeti" pitchFamily="2" charset="0"/>
              </a:rPr>
              <a:t> % /f]</a:t>
            </a:r>
            <a:r>
              <a:rPr lang="en-US" sz="2000" dirty="0" err="1">
                <a:latin typeface="Preeti" pitchFamily="2" charset="0"/>
              </a:rPr>
              <a:t>kgL</a:t>
            </a:r>
            <a:r>
              <a:rPr lang="en-US" sz="2000" dirty="0">
                <a:latin typeface="Preeti" pitchFamily="2" charset="0"/>
              </a:rPr>
              <a:t>	</a:t>
            </a:r>
            <a:r>
              <a:rPr lang="ne-NP" sz="2000" dirty="0">
                <a:latin typeface="Preeti" pitchFamily="2" charset="0"/>
              </a:rPr>
              <a:t>  </a:t>
            </a:r>
            <a:r>
              <a:rPr lang="en-US" sz="2000" dirty="0">
                <a:latin typeface="Preeti" pitchFamily="2" charset="0"/>
              </a:rPr>
              <a:t> </a:t>
            </a:r>
            <a:r>
              <a:rPr lang="en-US" sz="2000" dirty="0" smtClean="0">
                <a:latin typeface="Preeti" pitchFamily="2" charset="0"/>
              </a:rPr>
              <a:t>%) </a:t>
            </a:r>
            <a:r>
              <a:rPr lang="en-US" sz="2000" dirty="0" err="1">
                <a:latin typeface="Preeti" pitchFamily="2" charset="0"/>
              </a:rPr>
              <a:t>tyf</a:t>
            </a:r>
            <a:r>
              <a:rPr lang="en-US" sz="2000" dirty="0">
                <a:latin typeface="Preeti" pitchFamily="2" charset="0"/>
              </a:rPr>
              <a:t> * /</a:t>
            </a:r>
            <a:r>
              <a:rPr lang="en-US" sz="2000" dirty="0" err="1">
                <a:latin typeface="Preeti" pitchFamily="2" charset="0"/>
              </a:rPr>
              <a:t>fkgL</a:t>
            </a:r>
            <a:r>
              <a:rPr lang="en-US" sz="2000" dirty="0">
                <a:latin typeface="Preeti" pitchFamily="2" charset="0"/>
              </a:rPr>
              <a:t>]       </a:t>
            </a:r>
            <a:r>
              <a:rPr lang="ne-NP" sz="2000" dirty="0">
                <a:latin typeface="Preeti" pitchFamily="2" charset="0"/>
              </a:rPr>
              <a:t>   </a:t>
            </a:r>
            <a:r>
              <a:rPr lang="en-US" sz="2000" dirty="0">
                <a:latin typeface="Preeti" pitchFamily="2" charset="0"/>
              </a:rPr>
              <a:t>  </a:t>
            </a:r>
            <a:r>
              <a:rPr lang="en-US" sz="2000" dirty="0" smtClean="0">
                <a:latin typeface="Preeti" pitchFamily="2" charset="0"/>
              </a:rPr>
              <a:t>  !) </a:t>
            </a:r>
            <a:r>
              <a:rPr lang="en-US" sz="2000" dirty="0">
                <a:latin typeface="Preeti" pitchFamily="2" charset="0"/>
              </a:rPr>
              <a:t>/f]</a:t>
            </a:r>
          </a:p>
          <a:p>
            <a:pPr lvl="0"/>
            <a:r>
              <a:rPr lang="en-US" sz="2000" dirty="0">
                <a:latin typeface="Preeti" pitchFamily="2" charset="0"/>
              </a:rPr>
              <a:t> </a:t>
            </a:r>
          </a:p>
          <a:p>
            <a:pPr lvl="0"/>
            <a:r>
              <a:rPr lang="en-US" sz="2000" dirty="0">
                <a:latin typeface="Preeti" pitchFamily="2" charset="0"/>
              </a:rPr>
              <a:t>#_ sf7df08f} </a:t>
            </a:r>
            <a:r>
              <a:rPr lang="en-US" sz="2000" dirty="0" err="1">
                <a:latin typeface="Preeti" pitchFamily="2" charset="0"/>
              </a:rPr>
              <a:t>pkTosf</a:t>
            </a:r>
            <a:r>
              <a:rPr lang="en-US" sz="2000" dirty="0">
                <a:latin typeface="Preeti" pitchFamily="2" charset="0"/>
              </a:rPr>
              <a:t> </a:t>
            </a:r>
            <a:r>
              <a:rPr lang="en-US" sz="2000" dirty="0" err="1">
                <a:latin typeface="Preeti" pitchFamily="2" charset="0"/>
              </a:rPr>
              <a:t>afx</a:t>
            </a:r>
            <a:r>
              <a:rPr lang="en-US" sz="2000" dirty="0">
                <a:latin typeface="Preeti" pitchFamily="2" charset="0"/>
              </a:rPr>
              <a:t>]s </a:t>
            </a:r>
          </a:p>
          <a:p>
            <a:pPr lvl="0"/>
            <a:r>
              <a:rPr lang="en-US" sz="2000" dirty="0">
                <a:latin typeface="Preeti" pitchFamily="2" charset="0"/>
              </a:rPr>
              <a:t>      </a:t>
            </a:r>
            <a:r>
              <a:rPr lang="en-US" sz="2000" dirty="0" err="1">
                <a:latin typeface="Preeti" pitchFamily="2" charset="0"/>
              </a:rPr>
              <a:t>cGo</a:t>
            </a:r>
            <a:r>
              <a:rPr lang="en-US" sz="2000" dirty="0">
                <a:latin typeface="Preeti" pitchFamily="2" charset="0"/>
              </a:rPr>
              <a:t> kxf8L If]</a:t>
            </a:r>
            <a:r>
              <a:rPr lang="en-US" sz="2000" dirty="0" err="1">
                <a:latin typeface="Preeti" pitchFamily="2" charset="0"/>
              </a:rPr>
              <a:t>qdf</a:t>
            </a:r>
            <a:r>
              <a:rPr lang="en-US" sz="2000" dirty="0">
                <a:latin typeface="Preeti" pitchFamily="2" charset="0"/>
              </a:rPr>
              <a:t>	 </a:t>
            </a:r>
            <a:r>
              <a:rPr lang="en-US" sz="2000" dirty="0" smtClean="0">
                <a:latin typeface="Preeti" pitchFamily="2" charset="0"/>
              </a:rPr>
              <a:t>&amp;) </a:t>
            </a:r>
            <a:r>
              <a:rPr lang="en-US" sz="2000" dirty="0" err="1">
                <a:latin typeface="Preeti" pitchFamily="2" charset="0"/>
              </a:rPr>
              <a:t>tyf</a:t>
            </a:r>
            <a:r>
              <a:rPr lang="en-US" sz="2000" dirty="0">
                <a:latin typeface="Preeti" pitchFamily="2" charset="0"/>
              </a:rPr>
              <a:t> % /f]</a:t>
            </a:r>
            <a:r>
              <a:rPr lang="en-US" sz="2000" dirty="0" err="1">
                <a:latin typeface="Preeti" pitchFamily="2" charset="0"/>
              </a:rPr>
              <a:t>kgL</a:t>
            </a:r>
            <a:r>
              <a:rPr lang="en-US" sz="2000" dirty="0">
                <a:latin typeface="Preeti" pitchFamily="2" charset="0"/>
              </a:rPr>
              <a:t>	</a:t>
            </a:r>
            <a:r>
              <a:rPr lang="ne-NP" sz="2000" dirty="0">
                <a:latin typeface="Preeti" pitchFamily="2" charset="0"/>
              </a:rPr>
              <a:t> </a:t>
            </a:r>
            <a:r>
              <a:rPr lang="en-US" sz="2000" dirty="0" smtClean="0">
                <a:latin typeface="Preeti" pitchFamily="2" charset="0"/>
              </a:rPr>
              <a:t>*) </a:t>
            </a:r>
            <a:r>
              <a:rPr lang="en-US" sz="2000" dirty="0" err="1">
                <a:latin typeface="Preeti" pitchFamily="2" charset="0"/>
              </a:rPr>
              <a:t>tyf</a:t>
            </a:r>
            <a:r>
              <a:rPr lang="en-US" sz="2000" dirty="0">
                <a:latin typeface="Preeti" pitchFamily="2" charset="0"/>
              </a:rPr>
              <a:t> !^ /f]</a:t>
            </a:r>
            <a:r>
              <a:rPr lang="en-US" sz="2000" dirty="0" err="1">
                <a:latin typeface="Preeti" pitchFamily="2" charset="0"/>
              </a:rPr>
              <a:t>kgL</a:t>
            </a:r>
            <a:r>
              <a:rPr lang="en-US" sz="2000" dirty="0">
                <a:latin typeface="Preeti" pitchFamily="2" charset="0"/>
              </a:rPr>
              <a:t>=      </a:t>
            </a:r>
            <a:r>
              <a:rPr lang="ne-NP" sz="2000" dirty="0">
                <a:latin typeface="Preeti" pitchFamily="2" charset="0"/>
              </a:rPr>
              <a:t>   </a:t>
            </a:r>
            <a:r>
              <a:rPr lang="en-US" sz="2000" dirty="0">
                <a:latin typeface="Preeti" pitchFamily="2" charset="0"/>
              </a:rPr>
              <a:t>      </a:t>
            </a:r>
            <a:r>
              <a:rPr lang="en-US" sz="2000" dirty="0" smtClean="0">
                <a:latin typeface="Preeti" pitchFamily="2" charset="0"/>
              </a:rPr>
              <a:t>@) </a:t>
            </a:r>
            <a:r>
              <a:rPr lang="en-US" sz="2000" dirty="0">
                <a:latin typeface="Preeti" pitchFamily="2" charset="0"/>
              </a:rPr>
              <a:t>/f]</a:t>
            </a:r>
          </a:p>
          <a:p>
            <a:endParaRPr lang="en-US" sz="2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ne-NP" b="1" dirty="0" smtClean="0"/>
              <a:t>९.अधिकतम हदबन्दीमा छुटपाउने व्यवस्थाः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534400" cy="5257800"/>
          </a:xfrm>
        </p:spPr>
        <p:txBody>
          <a:bodyPr>
            <a:normAutofit/>
          </a:bodyPr>
          <a:lstStyle/>
          <a:p>
            <a:r>
              <a:rPr lang="ne-NP" dirty="0" smtClean="0">
                <a:cs typeface="Kalimati" pitchFamily="2"/>
              </a:rPr>
              <a:t>ऐनको </a:t>
            </a:r>
            <a:r>
              <a:rPr lang="ne-NP" dirty="0">
                <a:cs typeface="Kalimati" pitchFamily="2"/>
              </a:rPr>
              <a:t>दफा ७ र १० मा जुनसुकै कुरा लेखिएको भए तापनि देहायको जग्गामा तोकिएको हद लागू हुनेछैन । </a:t>
            </a:r>
            <a:endParaRPr lang="en-US" dirty="0">
              <a:cs typeface="Kalimati" pitchFamily="2"/>
            </a:endParaRPr>
          </a:p>
          <a:p>
            <a:pPr lvl="0"/>
            <a:r>
              <a:rPr lang="ne-NP" dirty="0">
                <a:cs typeface="Kalimati" pitchFamily="2"/>
              </a:rPr>
              <a:t>नेपाल सरकारको भोग चलनमा रहेको जग्गा</a:t>
            </a:r>
            <a:endParaRPr lang="en-US" dirty="0">
              <a:cs typeface="Kalimati" pitchFamily="2"/>
            </a:endParaRPr>
          </a:p>
          <a:p>
            <a:pPr lvl="0"/>
            <a:r>
              <a:rPr lang="ne-NP" dirty="0">
                <a:cs typeface="Kalimati" pitchFamily="2"/>
              </a:rPr>
              <a:t>स्थानीय तहको भोगचलनमा रहेको जग्गा </a:t>
            </a:r>
            <a:endParaRPr lang="en-US" dirty="0">
              <a:cs typeface="Kalimati" pitchFamily="2"/>
            </a:endParaRPr>
          </a:p>
          <a:p>
            <a:pPr lvl="0"/>
            <a:r>
              <a:rPr lang="ne-NP" dirty="0">
                <a:cs typeface="Kalimati" pitchFamily="2"/>
              </a:rPr>
              <a:t>गुठी अधिनस्थ जग्गा</a:t>
            </a:r>
            <a:endParaRPr lang="en-US" dirty="0">
              <a:cs typeface="Kalimati" pitchFamily="2"/>
            </a:endParaRPr>
          </a:p>
          <a:p>
            <a:pPr lvl="0"/>
            <a:r>
              <a:rPr lang="ne-NP" dirty="0">
                <a:cs typeface="Kalimati" pitchFamily="2"/>
              </a:rPr>
              <a:t>कूननैतिक सुविधा प्राप्त नियोग वा विदेशी संस्थाले नेपाल सरकारको स्वीकृति लिई प्राप्त गरेको जग्गा </a:t>
            </a:r>
            <a:endParaRPr lang="en-US" dirty="0">
              <a:cs typeface="Kalimati" pitchFamily="2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/>
            <a:r>
              <a:rPr lang="en-US" dirty="0" smtClean="0"/>
              <a:t/>
            </a:r>
            <a:br>
              <a:rPr lang="en-US" dirty="0" smtClean="0"/>
            </a:br>
            <a:r>
              <a:rPr lang="ne-NP" dirty="0" smtClean="0"/>
              <a:t>निम्न </a:t>
            </a:r>
            <a:r>
              <a:rPr lang="ne-NP" dirty="0"/>
              <a:t>विषयमा सूचित आदेशबाट व्यवस्था गरिएको जग्गाः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e-NP" dirty="0"/>
              <a:t>शिक्षण संस्था वा स्वास्थ्य संस्थाको भोगचलनमा रहेको </a:t>
            </a:r>
            <a:endParaRPr lang="en-US" dirty="0"/>
          </a:p>
          <a:p>
            <a:pPr lvl="0"/>
            <a:r>
              <a:rPr lang="ne-NP" dirty="0"/>
              <a:t>औद्योगिक काममा तोकिएको जग्गा</a:t>
            </a:r>
            <a:endParaRPr lang="en-US" dirty="0"/>
          </a:p>
          <a:p>
            <a:pPr lvl="0"/>
            <a:r>
              <a:rPr lang="ne-NP" dirty="0"/>
              <a:t>कृषि उद्योगको काममा तोकिएको जग्गा</a:t>
            </a:r>
            <a:endParaRPr lang="en-US" dirty="0"/>
          </a:p>
          <a:p>
            <a:pPr lvl="0"/>
            <a:r>
              <a:rPr lang="ne-NP" dirty="0"/>
              <a:t>सहकारी खेती गर्न संस्थाको नाउँमा रहेको जग्गा 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228600"/>
            <a:ext cx="8686800" cy="6324600"/>
          </a:xfrm>
        </p:spPr>
        <p:txBody>
          <a:bodyPr>
            <a:normAutofit fontScale="92500" lnSpcReduction="10000"/>
          </a:bodyPr>
          <a:lstStyle/>
          <a:p>
            <a:pPr lvl="0"/>
            <a:r>
              <a:rPr lang="ne-NP" dirty="0"/>
              <a:t>यसरी छुट दिंदा आदेशमा तोकिएको हदसम्म र त्यस्तो काम रहेसम्म मात्र छुट दिन सक्ने व्यवस्था रहेको छ </a:t>
            </a:r>
            <a:endParaRPr lang="en-US" dirty="0"/>
          </a:p>
          <a:p>
            <a:pPr lvl="0"/>
            <a:r>
              <a:rPr lang="ne-NP" dirty="0"/>
              <a:t>तोकिएको हदभन्दा बढी जग्गा राखेमा तोकिएको अधिकारीले भूमिसम्बन्धी ऐन २०२१ को दफा १५ अनुसार जग्गा प्राप्ति गर्न सक्नेछ। </a:t>
            </a:r>
            <a:endParaRPr lang="en-US" dirty="0"/>
          </a:p>
          <a:p>
            <a:pPr lvl="0"/>
            <a:r>
              <a:rPr lang="ne-NP" dirty="0"/>
              <a:t>ऐनको दफा १३ बमोजिम अधिकतम हदभन्दा बढी जग्गा हुने जग्गावालले फाँटवारी दाखिला गर्नु पर्दछ।</a:t>
            </a:r>
            <a:endParaRPr lang="en-US" dirty="0"/>
          </a:p>
          <a:p>
            <a:pPr lvl="0"/>
            <a:r>
              <a:rPr lang="ne-NP" dirty="0"/>
              <a:t>हदभन्दा वढीको जग्गा छ भन्ने कसैले सुराकी दिएमा दफा १४ </a:t>
            </a:r>
            <a:r>
              <a:rPr lang="en-US" dirty="0"/>
              <a:t>(</a:t>
            </a:r>
            <a:r>
              <a:rPr lang="ne-NP" dirty="0"/>
              <a:t>क</a:t>
            </a:r>
            <a:r>
              <a:rPr lang="en-US" dirty="0"/>
              <a:t>)</a:t>
            </a:r>
            <a:r>
              <a:rPr lang="ne-NP" dirty="0"/>
              <a:t> बमोजिम २५ प्रतिशत पुरस्कार दिने व्यवस्था छ । </a:t>
            </a:r>
            <a:endParaRPr lang="en-US" dirty="0"/>
          </a:p>
          <a:p>
            <a:pPr lvl="0"/>
            <a:r>
              <a:rPr lang="ne-NP" dirty="0"/>
              <a:t>हदभन्दा बढी जग्गा लुकाएको पाइएमा त्यस्तो जग्गा जफत हुनेछ । 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1428</Words>
  <Application>Microsoft Office PowerPoint</Application>
  <PresentationFormat>On-screen Show (4:3)</PresentationFormat>
  <Paragraphs>130</Paragraphs>
  <Slides>23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Office Theme</vt:lpstr>
      <vt:lpstr>जग्गाको रजिष्ट्रेशन, मोहियानी र हदबन्दी</vt:lpstr>
      <vt:lpstr>जग्गाको ३ विशेषता</vt:lpstr>
      <vt:lpstr>१.जग्गा रजिष्ट्रेशन </vt:lpstr>
      <vt:lpstr> ख) कार्यालयमा गई लिखत पारित गर्ने पद्धति Registration of Deed System  </vt:lpstr>
      <vt:lpstr> ग) हकहिस्सा दर्ता पद्धति Title Registration </vt:lpstr>
      <vt:lpstr>Slide 6</vt:lpstr>
      <vt:lpstr>Slide 7</vt:lpstr>
      <vt:lpstr>३.लिखतको विशेषताः </vt:lpstr>
      <vt:lpstr>लिखतको प्रकारः</vt:lpstr>
      <vt:lpstr>५.लिखत पारित गर्ने तरिकाः </vt:lpstr>
      <vt:lpstr>Slide 11</vt:lpstr>
      <vt:lpstr>Slide 12</vt:lpstr>
      <vt:lpstr>६.नेपालमा जग्गा दर्ताका प्रक्रियाहरुः </vt:lpstr>
      <vt:lpstr>२.कित्ता नापी पछिको जग्गा दर्ताः </vt:lpstr>
      <vt:lpstr> जग्गा दर्ताका प्रक्रियाः </vt:lpstr>
      <vt:lpstr>साविक लगत  अनुसारको क्षेत्रफलः  </vt:lpstr>
      <vt:lpstr>Slide 17</vt:lpstr>
      <vt:lpstr>७.जग्गामा मोहियानी व्यवस्था र हदबन्दी </vt:lpstr>
      <vt:lpstr>Slide 19</vt:lpstr>
      <vt:lpstr>८.हदबन्दी सम्बन्धीः </vt:lpstr>
      <vt:lpstr> ९.अधिकतम हदबन्दीमा छुटपाउने व्यवस्थाः </vt:lpstr>
      <vt:lpstr> निम्न विषयमा सूचित आदेशबाट व्यवस्था गरिएको जग्गाः </vt:lpstr>
      <vt:lpstr>Slide 23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जग्गाको रजिष्ट्रेशन, मोहियानी र हदबन्दी</dc:title>
  <dc:creator>user</dc:creator>
  <cp:lastModifiedBy>user</cp:lastModifiedBy>
  <cp:revision>7</cp:revision>
  <dcterms:created xsi:type="dcterms:W3CDTF">2017-06-15T12:17:20Z</dcterms:created>
  <dcterms:modified xsi:type="dcterms:W3CDTF">2017-06-15T12:58:30Z</dcterms:modified>
</cp:coreProperties>
</file>